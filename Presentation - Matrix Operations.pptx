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Big Shoulders Display" charset="1" panose="00000000000000000000"/>
      <p:regular r:id="rId19"/>
    </p:embeddedFont>
    <p:embeddedFont>
      <p:font typeface="Arimo" charset="1" panose="020B0604020202020204"/>
      <p:regular r:id="rId20"/>
    </p:embeddedFont>
    <p:embeddedFont>
      <p:font typeface="Radley Italics" charset="1" panose="00000500000000000000"/>
      <p:regular r:id="rId21"/>
    </p:embeddedFont>
    <p:embeddedFont>
      <p:font typeface="Radley" charset="1" panose="00000500000000000000"/>
      <p:regular r:id="rId22"/>
    </p:embeddedFont>
    <p:embeddedFont>
      <p:font typeface="Carlito" charset="1" panose="020F0502020204030204"/>
      <p:regular r:id="rId23"/>
    </p:embeddedFont>
    <p:embeddedFont>
      <p:font typeface="Carlito Bold" charset="1" panose="020F0502020204030204"/>
      <p:regular r:id="rId24"/>
    </p:embeddedFont>
    <p:embeddedFont>
      <p:font typeface="Big Shoulders Display Bold" charset="1" panose="000000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jpeg" Type="http://schemas.openxmlformats.org/officeDocument/2006/relationships/image"/><Relationship Id="rId4" Target="../media/image7.jpe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2" Target="../media/image25.png" Type="http://schemas.openxmlformats.org/officeDocument/2006/relationships/image"/><Relationship Id="rId3" Target="../media/image2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31.png" Type="http://schemas.openxmlformats.org/officeDocument/2006/relationships/image"/><Relationship Id="rId9" Target="../media/image3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2" Target="../media/image31.png" Type="http://schemas.openxmlformats.org/officeDocument/2006/relationships/image"/><Relationship Id="rId3" Target="../media/image3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37.png" Type="http://schemas.openxmlformats.org/officeDocument/2006/relationships/image"/><Relationship Id="rId9" Target="../media/image3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E3A8A"/>
        </a:solidFill>
      </p:bgPr>
    </p:bg>
    <p:spTree>
      <p:nvGrpSpPr>
        <p:cNvPr id="1" name=""/>
        <p:cNvGrpSpPr/>
        <p:nvPr/>
      </p:nvGrpSpPr>
      <p:grpSpPr>
        <a:xfrm>
          <a:off x="0" y="0"/>
          <a:ext cx="0" cy="0"/>
          <a:chOff x="0" y="0"/>
          <a:chExt cx="0" cy="0"/>
        </a:xfrm>
      </p:grpSpPr>
      <p:grpSp>
        <p:nvGrpSpPr>
          <p:cNvPr name="Group 2" id="2"/>
          <p:cNvGrpSpPr/>
          <p:nvPr/>
        </p:nvGrpSpPr>
        <p:grpSpPr>
          <a:xfrm rot="0">
            <a:off x="0" y="0"/>
            <a:ext cx="6104904" cy="10287003"/>
            <a:chOff x="0" y="0"/>
            <a:chExt cx="8139872" cy="13716004"/>
          </a:xfrm>
        </p:grpSpPr>
        <p:sp>
          <p:nvSpPr>
            <p:cNvPr name="Freeform 3" id="3"/>
            <p:cNvSpPr/>
            <p:nvPr/>
          </p:nvSpPr>
          <p:spPr>
            <a:xfrm flipH="false" flipV="false" rot="0">
              <a:off x="0" y="0"/>
              <a:ext cx="8139811" cy="13716000"/>
            </a:xfrm>
            <a:custGeom>
              <a:avLst/>
              <a:gdLst/>
              <a:ahLst/>
              <a:cxnLst/>
              <a:rect r="r" b="b" t="t" l="l"/>
              <a:pathLst>
                <a:path h="13716000" w="8139811">
                  <a:moveTo>
                    <a:pt x="0" y="0"/>
                  </a:moveTo>
                  <a:lnTo>
                    <a:pt x="8139811" y="0"/>
                  </a:lnTo>
                  <a:lnTo>
                    <a:pt x="8139811" y="13716000"/>
                  </a:lnTo>
                  <a:lnTo>
                    <a:pt x="0" y="13716000"/>
                  </a:lnTo>
                  <a:close/>
                </a:path>
              </a:pathLst>
            </a:custGeom>
            <a:solidFill>
              <a:srgbClr val="1CADE4"/>
            </a:solidFill>
          </p:spPr>
        </p:sp>
      </p:grpSp>
      <p:grpSp>
        <p:nvGrpSpPr>
          <p:cNvPr name="Group 4" id="4"/>
          <p:cNvGrpSpPr/>
          <p:nvPr/>
        </p:nvGrpSpPr>
        <p:grpSpPr>
          <a:xfrm rot="0">
            <a:off x="659753" y="660633"/>
            <a:ext cx="5144782" cy="8419854"/>
            <a:chOff x="0" y="0"/>
            <a:chExt cx="6859710" cy="11226472"/>
          </a:xfrm>
        </p:grpSpPr>
        <p:sp>
          <p:nvSpPr>
            <p:cNvPr name="Freeform 5" id="5"/>
            <p:cNvSpPr/>
            <p:nvPr/>
          </p:nvSpPr>
          <p:spPr>
            <a:xfrm flipH="false" flipV="false" rot="0">
              <a:off x="0" y="0"/>
              <a:ext cx="6859710" cy="11226472"/>
            </a:xfrm>
            <a:custGeom>
              <a:avLst/>
              <a:gdLst/>
              <a:ahLst/>
              <a:cxnLst/>
              <a:rect r="r" b="b" t="t" l="l"/>
              <a:pathLst>
                <a:path h="11226472" w="6859710">
                  <a:moveTo>
                    <a:pt x="0" y="0"/>
                  </a:moveTo>
                  <a:lnTo>
                    <a:pt x="6859710" y="0"/>
                  </a:lnTo>
                  <a:lnTo>
                    <a:pt x="6859710" y="11226472"/>
                  </a:lnTo>
                  <a:lnTo>
                    <a:pt x="0" y="11226472"/>
                  </a:lnTo>
                  <a:close/>
                </a:path>
              </a:pathLst>
            </a:custGeom>
          </p:spPr>
        </p:sp>
        <p:sp>
          <p:nvSpPr>
            <p:cNvPr name="TextBox 6" id="6"/>
            <p:cNvSpPr txBox="true"/>
            <p:nvPr/>
          </p:nvSpPr>
          <p:spPr>
            <a:xfrm>
              <a:off x="0" y="152400"/>
              <a:ext cx="6859710" cy="11074072"/>
            </a:xfrm>
            <a:prstGeom prst="rect">
              <a:avLst/>
            </a:prstGeom>
          </p:spPr>
          <p:txBody>
            <a:bodyPr anchor="ctr" rtlCol="false" tIns="0" lIns="0" bIns="0" rIns="0"/>
            <a:lstStyle/>
            <a:p>
              <a:pPr algn="l">
                <a:lnSpc>
                  <a:spcPts val="7200"/>
                </a:lnSpc>
              </a:pPr>
              <a:r>
                <a:rPr lang="en-US" sz="7500" spc="164">
                  <a:solidFill>
                    <a:srgbClr val="FFFFFF"/>
                  </a:solidFill>
                  <a:latin typeface="Big Shoulders Display"/>
                  <a:ea typeface="Big Shoulders Display"/>
                  <a:cs typeface="Big Shoulders Display"/>
                  <a:sym typeface="Big Shoulders Display"/>
                </a:rPr>
                <a:t>C Programming Project Presentation</a:t>
              </a:r>
            </a:p>
          </p:txBody>
        </p:sp>
      </p:grpSp>
      <p:grpSp>
        <p:nvGrpSpPr>
          <p:cNvPr name="Group 7" id="7"/>
          <p:cNvGrpSpPr/>
          <p:nvPr/>
        </p:nvGrpSpPr>
        <p:grpSpPr>
          <a:xfrm rot="0">
            <a:off x="7049727" y="349998"/>
            <a:ext cx="10115865" cy="2528966"/>
            <a:chOff x="0" y="0"/>
            <a:chExt cx="13487820" cy="3371954"/>
          </a:xfrm>
        </p:grpSpPr>
        <p:sp>
          <p:nvSpPr>
            <p:cNvPr name="Freeform 8" id="8" descr="A blue and red logo  AI-generated content may be incorrect."/>
            <p:cNvSpPr/>
            <p:nvPr/>
          </p:nvSpPr>
          <p:spPr>
            <a:xfrm flipH="false" flipV="false" rot="0">
              <a:off x="0" y="0"/>
              <a:ext cx="13487781" cy="3371977"/>
            </a:xfrm>
            <a:custGeom>
              <a:avLst/>
              <a:gdLst/>
              <a:ahLst/>
              <a:cxnLst/>
              <a:rect r="r" b="b" t="t" l="l"/>
              <a:pathLst>
                <a:path h="3371977" w="13487781">
                  <a:moveTo>
                    <a:pt x="0" y="0"/>
                  </a:moveTo>
                  <a:lnTo>
                    <a:pt x="13487781" y="0"/>
                  </a:lnTo>
                  <a:lnTo>
                    <a:pt x="13487781" y="3371977"/>
                  </a:lnTo>
                  <a:lnTo>
                    <a:pt x="0" y="3371977"/>
                  </a:lnTo>
                  <a:lnTo>
                    <a:pt x="0" y="0"/>
                  </a:lnTo>
                  <a:close/>
                </a:path>
              </a:pathLst>
            </a:custGeom>
            <a:blipFill>
              <a:blip r:embed="rId2"/>
              <a:stretch>
                <a:fillRect l="0" t="0" r="0" b="0"/>
              </a:stretch>
            </a:blipFill>
          </p:spPr>
        </p:sp>
      </p:grpSp>
      <p:sp>
        <p:nvSpPr>
          <p:cNvPr name="TextBox 9" id="9"/>
          <p:cNvSpPr txBox="true"/>
          <p:nvPr/>
        </p:nvSpPr>
        <p:spPr>
          <a:xfrm rot="0">
            <a:off x="7095447" y="3214654"/>
            <a:ext cx="13952322" cy="5725542"/>
          </a:xfrm>
          <a:prstGeom prst="rect">
            <a:avLst/>
          </a:prstGeom>
        </p:spPr>
        <p:txBody>
          <a:bodyPr anchor="t" rtlCol="false" tIns="0" lIns="0" bIns="0" rIns="0">
            <a:spAutoFit/>
          </a:bodyPr>
          <a:lstStyle/>
          <a:p>
            <a:pPr algn="l">
              <a:lnSpc>
                <a:spcPts val="3814"/>
              </a:lnSpc>
            </a:pPr>
          </a:p>
          <a:p>
            <a:pPr algn="l" marL="639140" indent="-319570" lvl="1">
              <a:lnSpc>
                <a:spcPts val="3814"/>
              </a:lnSpc>
              <a:buFont typeface="Arial"/>
              <a:buChar char="•"/>
            </a:pPr>
            <a:r>
              <a:rPr lang="en-US" sz="3531">
                <a:solidFill>
                  <a:srgbClr val="000000"/>
                </a:solidFill>
                <a:latin typeface="Arimo"/>
                <a:ea typeface="Arimo"/>
                <a:cs typeface="Arimo"/>
                <a:sym typeface="Arimo"/>
              </a:rPr>
              <a:t>Project Title: [Matrix Operations Tool]</a:t>
            </a:r>
          </a:p>
          <a:p>
            <a:pPr algn="l" marL="639140" indent="-319570" lvl="1">
              <a:lnSpc>
                <a:spcPts val="3814"/>
              </a:lnSpc>
              <a:buFont typeface="Arial"/>
              <a:buChar char="•"/>
            </a:pPr>
            <a:r>
              <a:rPr lang="en-US" sz="3531">
                <a:solidFill>
                  <a:srgbClr val="000000"/>
                </a:solidFill>
                <a:latin typeface="Arimo"/>
                <a:ea typeface="Arimo"/>
                <a:cs typeface="Arimo"/>
                <a:sym typeface="Arimo"/>
              </a:rPr>
              <a:t>Course: C Programming Lab / Mini Project</a:t>
            </a:r>
          </a:p>
          <a:p>
            <a:pPr algn="l" marL="639140" indent="-319570" lvl="1">
              <a:lnSpc>
                <a:spcPts val="3814"/>
              </a:lnSpc>
              <a:buFont typeface="Arial"/>
              <a:buChar char="•"/>
            </a:pPr>
            <a:r>
              <a:rPr lang="en-US" sz="3531">
                <a:solidFill>
                  <a:srgbClr val="000000"/>
                </a:solidFill>
                <a:latin typeface="Arimo"/>
                <a:ea typeface="Arimo"/>
                <a:cs typeface="Arimo"/>
                <a:sym typeface="Arimo"/>
              </a:rPr>
              <a:t>Department: Computer Science </a:t>
            </a:r>
          </a:p>
          <a:p>
            <a:pPr algn="l">
              <a:lnSpc>
                <a:spcPts val="3814"/>
              </a:lnSpc>
            </a:pPr>
          </a:p>
          <a:p>
            <a:pPr algn="l">
              <a:lnSpc>
                <a:spcPts val="3814"/>
              </a:lnSpc>
            </a:pPr>
            <a:r>
              <a:rPr lang="en-US" sz="3531">
                <a:solidFill>
                  <a:srgbClr val="1CADE4"/>
                </a:solidFill>
                <a:latin typeface="Arimo"/>
                <a:ea typeface="Arimo"/>
                <a:cs typeface="Arimo"/>
                <a:sym typeface="Arimo"/>
              </a:rPr>
              <a:t>               </a:t>
            </a:r>
            <a:r>
              <a:rPr lang="en-US" sz="3531">
                <a:solidFill>
                  <a:srgbClr val="1CADE4"/>
                </a:solidFill>
                <a:latin typeface="Arimo"/>
                <a:ea typeface="Arimo"/>
                <a:cs typeface="Arimo"/>
                <a:sym typeface="Arimo"/>
              </a:rPr>
              <a:t>Team 4</a:t>
            </a:r>
          </a:p>
          <a:p>
            <a:pPr algn="l" marL="639140" indent="-319570" lvl="1">
              <a:lnSpc>
                <a:spcPts val="3814"/>
              </a:lnSpc>
              <a:buFont typeface="Arial"/>
              <a:buChar char="•"/>
            </a:pPr>
            <a:r>
              <a:rPr lang="en-US" sz="3531">
                <a:solidFill>
                  <a:srgbClr val="1CADE4"/>
                </a:solidFill>
                <a:latin typeface="Arimo"/>
                <a:ea typeface="Arimo"/>
                <a:cs typeface="Arimo"/>
                <a:sym typeface="Arimo"/>
              </a:rPr>
              <a:t>GUKANESH C</a:t>
            </a:r>
          </a:p>
          <a:p>
            <a:pPr algn="l" marL="639140" indent="-319570" lvl="1">
              <a:lnSpc>
                <a:spcPts val="3814"/>
              </a:lnSpc>
              <a:buFont typeface="Arial"/>
              <a:buChar char="•"/>
            </a:pPr>
            <a:r>
              <a:rPr lang="en-US" sz="3531">
                <a:solidFill>
                  <a:srgbClr val="1CADE4"/>
                </a:solidFill>
                <a:latin typeface="Arimo"/>
                <a:ea typeface="Arimo"/>
                <a:cs typeface="Arimo"/>
                <a:sym typeface="Arimo"/>
              </a:rPr>
              <a:t> GURUPRASATH A M</a:t>
            </a:r>
          </a:p>
          <a:p>
            <a:pPr algn="l" marL="639140" indent="-319570" lvl="1">
              <a:lnSpc>
                <a:spcPts val="3814"/>
              </a:lnSpc>
              <a:buFont typeface="Arial"/>
              <a:buChar char="•"/>
            </a:pPr>
            <a:r>
              <a:rPr lang="en-US" sz="3531">
                <a:solidFill>
                  <a:srgbClr val="1CADE4"/>
                </a:solidFill>
                <a:latin typeface="Arimo"/>
                <a:ea typeface="Arimo"/>
                <a:cs typeface="Arimo"/>
                <a:sym typeface="Arimo"/>
              </a:rPr>
              <a:t> HEMAVARSHINI K</a:t>
            </a:r>
          </a:p>
          <a:p>
            <a:pPr algn="l" marL="639140" indent="-319570" lvl="1">
              <a:lnSpc>
                <a:spcPts val="3814"/>
              </a:lnSpc>
              <a:buFont typeface="Arial"/>
              <a:buChar char="•"/>
            </a:pPr>
            <a:r>
              <a:rPr lang="en-US" sz="3531">
                <a:solidFill>
                  <a:srgbClr val="1CADE4"/>
                </a:solidFill>
                <a:latin typeface="Arimo"/>
                <a:ea typeface="Arimo"/>
                <a:cs typeface="Arimo"/>
                <a:sym typeface="Arimo"/>
              </a:rPr>
              <a:t> HEMA HARSHITHA V</a:t>
            </a:r>
          </a:p>
          <a:p>
            <a:pPr algn="l" marL="639140" indent="-319570" lvl="1">
              <a:lnSpc>
                <a:spcPts val="3814"/>
              </a:lnSpc>
              <a:buFont typeface="Arial"/>
              <a:buChar char="•"/>
            </a:pPr>
            <a:r>
              <a:rPr lang="en-US" sz="3531">
                <a:solidFill>
                  <a:srgbClr val="1CADE4"/>
                </a:solidFill>
                <a:latin typeface="Arimo"/>
                <a:ea typeface="Arimo"/>
                <a:cs typeface="Arimo"/>
                <a:sym typeface="Arimo"/>
              </a:rPr>
              <a:t> JANARTHANAN C</a:t>
            </a:r>
          </a:p>
          <a:p>
            <a:pPr algn="l">
              <a:lnSpc>
                <a:spcPts val="3814"/>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E3A8A"/>
        </a:solidFill>
      </p:bgPr>
    </p:bg>
    <p:spTree>
      <p:nvGrpSpPr>
        <p:cNvPr id="1" name=""/>
        <p:cNvGrpSpPr/>
        <p:nvPr/>
      </p:nvGrpSpPr>
      <p:grpSpPr>
        <a:xfrm>
          <a:off x="0" y="0"/>
          <a:ext cx="0" cy="0"/>
          <a:chOff x="0" y="0"/>
          <a:chExt cx="0" cy="0"/>
        </a:xfrm>
      </p:grpSpPr>
      <p:grpSp>
        <p:nvGrpSpPr>
          <p:cNvPr name="Group 2" id="2"/>
          <p:cNvGrpSpPr/>
          <p:nvPr/>
        </p:nvGrpSpPr>
        <p:grpSpPr>
          <a:xfrm rot="0">
            <a:off x="11324316" y="772375"/>
            <a:ext cx="6601526" cy="8688162"/>
            <a:chOff x="0" y="0"/>
            <a:chExt cx="1217429" cy="1602239"/>
          </a:xfrm>
        </p:grpSpPr>
        <p:sp>
          <p:nvSpPr>
            <p:cNvPr name="Freeform 3" id="3"/>
            <p:cNvSpPr/>
            <p:nvPr/>
          </p:nvSpPr>
          <p:spPr>
            <a:xfrm flipH="false" flipV="false" rot="0">
              <a:off x="0" y="0"/>
              <a:ext cx="1217429" cy="1602239"/>
            </a:xfrm>
            <a:custGeom>
              <a:avLst/>
              <a:gdLst/>
              <a:ahLst/>
              <a:cxnLst/>
              <a:rect r="r" b="b" t="t" l="l"/>
              <a:pathLst>
                <a:path h="1602239" w="1217429">
                  <a:moveTo>
                    <a:pt x="0" y="0"/>
                  </a:moveTo>
                  <a:lnTo>
                    <a:pt x="1217429" y="0"/>
                  </a:lnTo>
                  <a:lnTo>
                    <a:pt x="1217429" y="1602239"/>
                  </a:lnTo>
                  <a:lnTo>
                    <a:pt x="0" y="1602239"/>
                  </a:lnTo>
                  <a:close/>
                </a:path>
              </a:pathLst>
            </a:custGeom>
            <a:blipFill>
              <a:blip r:embed="rId2"/>
              <a:stretch>
                <a:fillRect l="-11" t="0" r="-11" b="0"/>
              </a:stretch>
            </a:blipFill>
          </p:spPr>
        </p:sp>
      </p:grpSp>
      <p:grpSp>
        <p:nvGrpSpPr>
          <p:cNvPr name="Group 4" id="4"/>
          <p:cNvGrpSpPr/>
          <p:nvPr/>
        </p:nvGrpSpPr>
        <p:grpSpPr>
          <a:xfrm rot="0">
            <a:off x="902690" y="777030"/>
            <a:ext cx="9518060" cy="7898848"/>
            <a:chOff x="0" y="0"/>
            <a:chExt cx="12690747" cy="10531797"/>
          </a:xfrm>
        </p:grpSpPr>
        <p:sp>
          <p:nvSpPr>
            <p:cNvPr name="TextBox 5" id="5"/>
            <p:cNvSpPr txBox="true"/>
            <p:nvPr/>
          </p:nvSpPr>
          <p:spPr>
            <a:xfrm rot="0">
              <a:off x="34654" y="66675"/>
              <a:ext cx="12656093" cy="1796732"/>
            </a:xfrm>
            <a:prstGeom prst="rect">
              <a:avLst/>
            </a:prstGeom>
          </p:spPr>
          <p:txBody>
            <a:bodyPr anchor="t" rtlCol="false" tIns="0" lIns="0" bIns="0" rIns="0">
              <a:spAutoFit/>
            </a:bodyPr>
            <a:lstStyle/>
            <a:p>
              <a:pPr algn="l" marL="0" indent="0" lvl="0">
                <a:lnSpc>
                  <a:spcPts val="10320"/>
                </a:lnSpc>
                <a:spcBef>
                  <a:spcPct val="0"/>
                </a:spcBef>
              </a:pPr>
              <a:r>
                <a:rPr lang="en-US" sz="9214" i="true">
                  <a:solidFill>
                    <a:srgbClr val="FFFFFF"/>
                  </a:solidFill>
                  <a:latin typeface="Radley Italics"/>
                  <a:ea typeface="Radley Italics"/>
                  <a:cs typeface="Radley Italics"/>
                  <a:sym typeface="Radley Italics"/>
                </a:rPr>
                <a:t>Introduction</a:t>
              </a:r>
            </a:p>
          </p:txBody>
        </p:sp>
        <p:sp>
          <p:nvSpPr>
            <p:cNvPr name="TextBox 6" id="6"/>
            <p:cNvSpPr txBox="true"/>
            <p:nvPr/>
          </p:nvSpPr>
          <p:spPr>
            <a:xfrm rot="0">
              <a:off x="34654" y="3142822"/>
              <a:ext cx="12656093" cy="2758328"/>
            </a:xfrm>
            <a:prstGeom prst="rect">
              <a:avLst/>
            </a:prstGeom>
          </p:spPr>
          <p:txBody>
            <a:bodyPr anchor="t" rtlCol="false" tIns="0" lIns="0" bIns="0" rIns="0">
              <a:spAutoFit/>
            </a:bodyPr>
            <a:lstStyle/>
            <a:p>
              <a:pPr algn="l" marL="0" indent="0" lvl="0">
                <a:lnSpc>
                  <a:spcPts val="5528"/>
                </a:lnSpc>
                <a:spcBef>
                  <a:spcPct val="0"/>
                </a:spcBef>
              </a:pPr>
              <a:r>
                <a:rPr lang="en-US" sz="4607" u="none">
                  <a:solidFill>
                    <a:srgbClr val="BFDBFE"/>
                  </a:solidFill>
                  <a:latin typeface="Radley"/>
                  <a:ea typeface="Radley"/>
                  <a:cs typeface="Radley"/>
                  <a:sym typeface="Radley"/>
                </a:rPr>
                <a:t>The Importance of Automating Matrix Calculations in C Programming</a:t>
              </a:r>
            </a:p>
          </p:txBody>
        </p:sp>
        <p:sp>
          <p:nvSpPr>
            <p:cNvPr name="AutoShape 7" id="7"/>
            <p:cNvSpPr/>
            <p:nvPr/>
          </p:nvSpPr>
          <p:spPr>
            <a:xfrm>
              <a:off x="0" y="2503114"/>
              <a:ext cx="12656093" cy="0"/>
            </a:xfrm>
            <a:prstGeom prst="line">
              <a:avLst/>
            </a:prstGeom>
            <a:ln cap="flat" w="33434">
              <a:solidFill>
                <a:srgbClr val="FFFFFF"/>
              </a:solidFill>
              <a:prstDash val="solid"/>
              <a:headEnd type="none" len="sm" w="sm"/>
              <a:tailEnd type="none" len="sm" w="sm"/>
            </a:ln>
          </p:spPr>
        </p:sp>
        <p:sp>
          <p:nvSpPr>
            <p:cNvPr name="TextBox 8" id="8"/>
            <p:cNvSpPr txBox="true"/>
            <p:nvPr/>
          </p:nvSpPr>
          <p:spPr>
            <a:xfrm rot="0">
              <a:off x="34654" y="6730008"/>
              <a:ext cx="12621439" cy="3801789"/>
            </a:xfrm>
            <a:prstGeom prst="rect">
              <a:avLst/>
            </a:prstGeom>
          </p:spPr>
          <p:txBody>
            <a:bodyPr anchor="t" rtlCol="false" tIns="0" lIns="0" bIns="0" rIns="0">
              <a:spAutoFit/>
            </a:bodyPr>
            <a:lstStyle/>
            <a:p>
              <a:pPr algn="l" marL="0" indent="0" lvl="0">
                <a:lnSpc>
                  <a:spcPts val="3159"/>
                </a:lnSpc>
              </a:pPr>
              <a:r>
                <a:rPr lang="en-US" sz="2632">
                  <a:solidFill>
                    <a:srgbClr val="E0E7FF"/>
                  </a:solidFill>
                  <a:latin typeface="Carlito"/>
                  <a:ea typeface="Carlito"/>
                  <a:cs typeface="Carlito"/>
                  <a:sym typeface="Carlito"/>
                </a:rPr>
                <a:t>Automating matrix computations significantly enhances efficiency and accuracy in mathematical operations. This project demonstrates how to leverage C programming to facilitate essential matrix functions such as addition, subtraction, multiplication, and transposition. A user-friendly interface ensures that users can perform these operations seamlessly, reducing manual errors and saving time.</a:t>
              </a:r>
            </a:p>
          </p:txBody>
        </p:sp>
      </p:grpSp>
      <p:sp>
        <p:nvSpPr>
          <p:cNvPr name="Freeform 9" id="9"/>
          <p:cNvSpPr/>
          <p:nvPr/>
        </p:nvSpPr>
        <p:spPr>
          <a:xfrm flipH="false" flipV="false" rot="0">
            <a:off x="17095912" y="8401281"/>
            <a:ext cx="2384176" cy="2401642"/>
          </a:xfrm>
          <a:custGeom>
            <a:avLst/>
            <a:gdLst/>
            <a:ahLst/>
            <a:cxnLst/>
            <a:rect r="r" b="b" t="t" l="l"/>
            <a:pathLst>
              <a:path h="2401642" w="2384176">
                <a:moveTo>
                  <a:pt x="0" y="0"/>
                </a:moveTo>
                <a:lnTo>
                  <a:pt x="2384176" y="0"/>
                </a:lnTo>
                <a:lnTo>
                  <a:pt x="2384176" y="2401642"/>
                </a:lnTo>
                <a:lnTo>
                  <a:pt x="0" y="24016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E3A8A"/>
        </a:solidFill>
      </p:bgPr>
    </p:bg>
    <p:spTree>
      <p:nvGrpSpPr>
        <p:cNvPr id="1" name=""/>
        <p:cNvGrpSpPr/>
        <p:nvPr/>
      </p:nvGrpSpPr>
      <p:grpSpPr>
        <a:xfrm>
          <a:off x="0" y="0"/>
          <a:ext cx="0" cy="0"/>
          <a:chOff x="0" y="0"/>
          <a:chExt cx="0" cy="0"/>
        </a:xfrm>
      </p:grpSpPr>
      <p:grpSp>
        <p:nvGrpSpPr>
          <p:cNvPr name="Group 2" id="2"/>
          <p:cNvGrpSpPr/>
          <p:nvPr/>
        </p:nvGrpSpPr>
        <p:grpSpPr>
          <a:xfrm rot="0">
            <a:off x="7624981" y="4935798"/>
            <a:ext cx="3325717" cy="2970237"/>
            <a:chOff x="0" y="0"/>
            <a:chExt cx="1391532" cy="1242794"/>
          </a:xfrm>
        </p:grpSpPr>
        <p:sp>
          <p:nvSpPr>
            <p:cNvPr name="Freeform 3" id="3"/>
            <p:cNvSpPr/>
            <p:nvPr/>
          </p:nvSpPr>
          <p:spPr>
            <a:xfrm flipH="false" flipV="false" rot="0">
              <a:off x="0" y="0"/>
              <a:ext cx="1391532" cy="1242794"/>
            </a:xfrm>
            <a:custGeom>
              <a:avLst/>
              <a:gdLst/>
              <a:ahLst/>
              <a:cxnLst/>
              <a:rect r="r" b="b" t="t" l="l"/>
              <a:pathLst>
                <a:path h="1242794" w="1391532">
                  <a:moveTo>
                    <a:pt x="0" y="0"/>
                  </a:moveTo>
                  <a:lnTo>
                    <a:pt x="1391532" y="0"/>
                  </a:lnTo>
                  <a:lnTo>
                    <a:pt x="1391532" y="1242794"/>
                  </a:lnTo>
                  <a:lnTo>
                    <a:pt x="0" y="1242794"/>
                  </a:lnTo>
                  <a:close/>
                </a:path>
              </a:pathLst>
            </a:custGeom>
            <a:blipFill>
              <a:blip r:embed="rId2"/>
              <a:stretch>
                <a:fillRect l="-104" t="0" r="-104" b="0"/>
              </a:stretch>
            </a:blipFill>
          </p:spPr>
        </p:sp>
      </p:grpSp>
      <p:grpSp>
        <p:nvGrpSpPr>
          <p:cNvPr name="Group 4" id="4"/>
          <p:cNvGrpSpPr/>
          <p:nvPr/>
        </p:nvGrpSpPr>
        <p:grpSpPr>
          <a:xfrm rot="0">
            <a:off x="3073516" y="2147876"/>
            <a:ext cx="2641768" cy="2359394"/>
            <a:chOff x="0" y="0"/>
            <a:chExt cx="1391532" cy="1242794"/>
          </a:xfrm>
        </p:grpSpPr>
        <p:sp>
          <p:nvSpPr>
            <p:cNvPr name="Freeform 5" id="5"/>
            <p:cNvSpPr/>
            <p:nvPr/>
          </p:nvSpPr>
          <p:spPr>
            <a:xfrm flipH="false" flipV="false" rot="0">
              <a:off x="0" y="0"/>
              <a:ext cx="1391532" cy="1242794"/>
            </a:xfrm>
            <a:custGeom>
              <a:avLst/>
              <a:gdLst/>
              <a:ahLst/>
              <a:cxnLst/>
              <a:rect r="r" b="b" t="t" l="l"/>
              <a:pathLst>
                <a:path h="1242794" w="1391532">
                  <a:moveTo>
                    <a:pt x="0" y="0"/>
                  </a:moveTo>
                  <a:lnTo>
                    <a:pt x="1391532" y="0"/>
                  </a:lnTo>
                  <a:lnTo>
                    <a:pt x="1391532" y="1242794"/>
                  </a:lnTo>
                  <a:lnTo>
                    <a:pt x="0" y="1242794"/>
                  </a:lnTo>
                  <a:close/>
                </a:path>
              </a:pathLst>
            </a:custGeom>
            <a:blipFill>
              <a:blip r:embed="rId3"/>
              <a:stretch>
                <a:fillRect l="-104" t="0" r="-104" b="0"/>
              </a:stretch>
            </a:blipFill>
          </p:spPr>
        </p:sp>
      </p:grpSp>
      <p:grpSp>
        <p:nvGrpSpPr>
          <p:cNvPr name="Group 6" id="6"/>
          <p:cNvGrpSpPr/>
          <p:nvPr/>
        </p:nvGrpSpPr>
        <p:grpSpPr>
          <a:xfrm rot="0">
            <a:off x="15108657" y="6091248"/>
            <a:ext cx="2943402" cy="2628787"/>
            <a:chOff x="0" y="0"/>
            <a:chExt cx="1391532" cy="1242794"/>
          </a:xfrm>
        </p:grpSpPr>
        <p:sp>
          <p:nvSpPr>
            <p:cNvPr name="Freeform 7" id="7"/>
            <p:cNvSpPr/>
            <p:nvPr/>
          </p:nvSpPr>
          <p:spPr>
            <a:xfrm flipH="false" flipV="false" rot="0">
              <a:off x="0" y="0"/>
              <a:ext cx="1391532" cy="1242794"/>
            </a:xfrm>
            <a:custGeom>
              <a:avLst/>
              <a:gdLst/>
              <a:ahLst/>
              <a:cxnLst/>
              <a:rect r="r" b="b" t="t" l="l"/>
              <a:pathLst>
                <a:path h="1242794" w="1391532">
                  <a:moveTo>
                    <a:pt x="0" y="0"/>
                  </a:moveTo>
                  <a:lnTo>
                    <a:pt x="1391532" y="0"/>
                  </a:lnTo>
                  <a:lnTo>
                    <a:pt x="1391532" y="1242794"/>
                  </a:lnTo>
                  <a:lnTo>
                    <a:pt x="0" y="1242794"/>
                  </a:lnTo>
                  <a:close/>
                </a:path>
              </a:pathLst>
            </a:custGeom>
            <a:blipFill>
              <a:blip r:embed="rId4"/>
              <a:stretch>
                <a:fillRect l="-104" t="0" r="-104" b="0"/>
              </a:stretch>
            </a:blipFill>
          </p:spPr>
        </p:sp>
      </p:grpSp>
      <p:sp>
        <p:nvSpPr>
          <p:cNvPr name="Freeform 8" id="8"/>
          <p:cNvSpPr/>
          <p:nvPr/>
        </p:nvSpPr>
        <p:spPr>
          <a:xfrm flipH="false" flipV="false" rot="9948328">
            <a:off x="14570032" y="-534798"/>
            <a:ext cx="4020652" cy="4114800"/>
          </a:xfrm>
          <a:custGeom>
            <a:avLst/>
            <a:gdLst/>
            <a:ahLst/>
            <a:cxnLst/>
            <a:rect r="r" b="b" t="t" l="l"/>
            <a:pathLst>
              <a:path h="4114800" w="4020652">
                <a:moveTo>
                  <a:pt x="0" y="0"/>
                </a:moveTo>
                <a:lnTo>
                  <a:pt x="4020653" y="0"/>
                </a:lnTo>
                <a:lnTo>
                  <a:pt x="4020653"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23812" y="8082916"/>
            <a:ext cx="7315200" cy="1922929"/>
          </a:xfrm>
          <a:custGeom>
            <a:avLst/>
            <a:gdLst/>
            <a:ahLst/>
            <a:cxnLst/>
            <a:rect r="r" b="b" t="t" l="l"/>
            <a:pathLst>
              <a:path h="1922929" w="7315200">
                <a:moveTo>
                  <a:pt x="0" y="0"/>
                </a:moveTo>
                <a:lnTo>
                  <a:pt x="7315200" y="0"/>
                </a:lnTo>
                <a:lnTo>
                  <a:pt x="7315200" y="1922929"/>
                </a:lnTo>
                <a:lnTo>
                  <a:pt x="0" y="19229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666750" y="723900"/>
            <a:ext cx="13249275" cy="1004572"/>
          </a:xfrm>
          <a:prstGeom prst="rect">
            <a:avLst/>
          </a:prstGeom>
        </p:spPr>
        <p:txBody>
          <a:bodyPr anchor="t" rtlCol="false" tIns="0" lIns="0" bIns="0" rIns="0">
            <a:spAutoFit/>
          </a:bodyPr>
          <a:lstStyle/>
          <a:p>
            <a:pPr algn="l" marL="0" indent="0" lvl="0">
              <a:lnSpc>
                <a:spcPts val="7840"/>
              </a:lnSpc>
              <a:spcBef>
                <a:spcPct val="0"/>
              </a:spcBef>
            </a:pPr>
            <a:r>
              <a:rPr lang="en-US" sz="7000">
                <a:solidFill>
                  <a:srgbClr val="FFFFFF"/>
                </a:solidFill>
                <a:latin typeface="Radley"/>
                <a:ea typeface="Radley"/>
                <a:cs typeface="Radley"/>
                <a:sym typeface="Radley"/>
              </a:rPr>
              <a:t>Project Objectives</a:t>
            </a:r>
          </a:p>
        </p:txBody>
      </p:sp>
      <p:grpSp>
        <p:nvGrpSpPr>
          <p:cNvPr name="Group 11" id="11"/>
          <p:cNvGrpSpPr/>
          <p:nvPr/>
        </p:nvGrpSpPr>
        <p:grpSpPr>
          <a:xfrm rot="0">
            <a:off x="561626" y="2073129"/>
            <a:ext cx="2876550" cy="2508886"/>
            <a:chOff x="0" y="0"/>
            <a:chExt cx="3835400" cy="3345181"/>
          </a:xfrm>
        </p:grpSpPr>
        <p:sp>
          <p:nvSpPr>
            <p:cNvPr name="TextBox 12" id="12"/>
            <p:cNvSpPr txBox="true"/>
            <p:nvPr/>
          </p:nvSpPr>
          <p:spPr>
            <a:xfrm rot="0">
              <a:off x="0" y="-57150"/>
              <a:ext cx="38354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BFDBFE"/>
                  </a:solidFill>
                  <a:latin typeface="Radley"/>
                  <a:ea typeface="Radley"/>
                  <a:cs typeface="Radley"/>
                  <a:sym typeface="Radley"/>
                </a:rPr>
                <a:t>Automation</a:t>
              </a:r>
            </a:p>
          </p:txBody>
        </p:sp>
        <p:sp>
          <p:nvSpPr>
            <p:cNvPr name="TextBox 13" id="13"/>
            <p:cNvSpPr txBox="true"/>
            <p:nvPr/>
          </p:nvSpPr>
          <p:spPr>
            <a:xfrm rot="0">
              <a:off x="0" y="791845"/>
              <a:ext cx="3835400" cy="2553336"/>
            </a:xfrm>
            <a:prstGeom prst="rect">
              <a:avLst/>
            </a:prstGeom>
          </p:spPr>
          <p:txBody>
            <a:bodyPr anchor="t" rtlCol="false" tIns="0" lIns="0" bIns="0" rIns="0">
              <a:spAutoFit/>
            </a:bodyPr>
            <a:lstStyle/>
            <a:p>
              <a:pPr algn="l" marL="0" indent="0" lvl="0">
                <a:lnSpc>
                  <a:spcPts val="3779"/>
                </a:lnSpc>
              </a:pPr>
              <a:r>
                <a:rPr lang="en-US" b="true" sz="2699">
                  <a:solidFill>
                    <a:srgbClr val="E0E7FF"/>
                  </a:solidFill>
                  <a:latin typeface="Carlito Bold"/>
                  <a:ea typeface="Carlito Bold"/>
                  <a:cs typeface="Carlito Bold"/>
                  <a:sym typeface="Carlito Bold"/>
                </a:rPr>
                <a:t>Streamline calculations</a:t>
              </a:r>
              <a:r>
                <a:rPr lang="en-US" sz="2699">
                  <a:solidFill>
                    <a:srgbClr val="E0E7FF"/>
                  </a:solidFill>
                  <a:latin typeface="Carlito"/>
                  <a:ea typeface="Carlito"/>
                  <a:cs typeface="Carlito"/>
                  <a:sym typeface="Carlito"/>
                </a:rPr>
                <a:t> for efficiency and accuracy</a:t>
              </a:r>
            </a:p>
          </p:txBody>
        </p:sp>
      </p:grpSp>
      <p:grpSp>
        <p:nvGrpSpPr>
          <p:cNvPr name="Group 14" id="14"/>
          <p:cNvGrpSpPr/>
          <p:nvPr/>
        </p:nvGrpSpPr>
        <p:grpSpPr>
          <a:xfrm rot="0">
            <a:off x="5083816" y="5074930"/>
            <a:ext cx="2876550" cy="2032636"/>
            <a:chOff x="0" y="0"/>
            <a:chExt cx="3835400" cy="2710181"/>
          </a:xfrm>
        </p:grpSpPr>
        <p:sp>
          <p:nvSpPr>
            <p:cNvPr name="TextBox 15" id="15"/>
            <p:cNvSpPr txBox="true"/>
            <p:nvPr/>
          </p:nvSpPr>
          <p:spPr>
            <a:xfrm rot="0">
              <a:off x="0" y="791845"/>
              <a:ext cx="3835400" cy="1918336"/>
            </a:xfrm>
            <a:prstGeom prst="rect">
              <a:avLst/>
            </a:prstGeom>
          </p:spPr>
          <p:txBody>
            <a:bodyPr anchor="t" rtlCol="false" tIns="0" lIns="0" bIns="0" rIns="0">
              <a:spAutoFit/>
            </a:bodyPr>
            <a:lstStyle/>
            <a:p>
              <a:pPr algn="l" marL="0" indent="0" lvl="0">
                <a:lnSpc>
                  <a:spcPts val="3779"/>
                </a:lnSpc>
              </a:pPr>
              <a:r>
                <a:rPr lang="en-US" sz="2699">
                  <a:solidFill>
                    <a:srgbClr val="E0E7FF"/>
                  </a:solidFill>
                  <a:latin typeface="Carlito"/>
                  <a:ea typeface="Carlito"/>
                  <a:cs typeface="Carlito"/>
                  <a:sym typeface="Carlito"/>
                </a:rPr>
                <a:t>Utilize arrays and </a:t>
              </a:r>
              <a:r>
                <a:rPr lang="en-US" b="true" sz="2699">
                  <a:solidFill>
                    <a:srgbClr val="E0E7FF"/>
                  </a:solidFill>
                  <a:latin typeface="Carlito Bold"/>
                  <a:ea typeface="Carlito Bold"/>
                  <a:cs typeface="Carlito Bold"/>
                  <a:sym typeface="Carlito Bold"/>
                </a:rPr>
                <a:t>control structures</a:t>
              </a:r>
              <a:r>
                <a:rPr lang="en-US" sz="2699">
                  <a:solidFill>
                    <a:srgbClr val="E0E7FF"/>
                  </a:solidFill>
                  <a:latin typeface="Carlito"/>
                  <a:ea typeface="Carlito"/>
                  <a:cs typeface="Carlito"/>
                  <a:sym typeface="Carlito"/>
                </a:rPr>
                <a:t> effectively</a:t>
              </a:r>
            </a:p>
          </p:txBody>
        </p:sp>
        <p:sp>
          <p:nvSpPr>
            <p:cNvPr name="TextBox 16" id="16"/>
            <p:cNvSpPr txBox="true"/>
            <p:nvPr/>
          </p:nvSpPr>
          <p:spPr>
            <a:xfrm rot="0">
              <a:off x="0" y="-57150"/>
              <a:ext cx="3835400" cy="622724"/>
            </a:xfrm>
            <a:prstGeom prst="rect">
              <a:avLst/>
            </a:prstGeom>
          </p:spPr>
          <p:txBody>
            <a:bodyPr anchor="t" rtlCol="false" tIns="0" lIns="0" bIns="0" rIns="0">
              <a:spAutoFit/>
            </a:bodyPr>
            <a:lstStyle/>
            <a:p>
              <a:pPr algn="l" marL="0" indent="0" lvl="0">
                <a:lnSpc>
                  <a:spcPts val="3919"/>
                </a:lnSpc>
                <a:spcBef>
                  <a:spcPct val="0"/>
                </a:spcBef>
              </a:pPr>
              <a:r>
                <a:rPr lang="en-US" sz="2799">
                  <a:solidFill>
                    <a:srgbClr val="BFDBFE"/>
                  </a:solidFill>
                  <a:latin typeface="Radley"/>
                  <a:ea typeface="Radley"/>
                  <a:cs typeface="Radley"/>
                  <a:sym typeface="Radley"/>
                </a:rPr>
                <a:t>Programming</a:t>
              </a:r>
            </a:p>
          </p:txBody>
        </p:sp>
      </p:grpSp>
      <p:grpSp>
        <p:nvGrpSpPr>
          <p:cNvPr name="Group 17" id="17"/>
          <p:cNvGrpSpPr/>
          <p:nvPr/>
        </p:nvGrpSpPr>
        <p:grpSpPr>
          <a:xfrm rot="0">
            <a:off x="12176789" y="6919353"/>
            <a:ext cx="2931869" cy="1673331"/>
            <a:chOff x="0" y="0"/>
            <a:chExt cx="3909158" cy="2231108"/>
          </a:xfrm>
        </p:grpSpPr>
        <p:sp>
          <p:nvSpPr>
            <p:cNvPr name="TextBox 18" id="18"/>
            <p:cNvSpPr txBox="true"/>
            <p:nvPr/>
          </p:nvSpPr>
          <p:spPr>
            <a:xfrm rot="0">
              <a:off x="0" y="947773"/>
              <a:ext cx="3909158" cy="1283335"/>
            </a:xfrm>
            <a:prstGeom prst="rect">
              <a:avLst/>
            </a:prstGeom>
          </p:spPr>
          <p:txBody>
            <a:bodyPr anchor="t" rtlCol="false" tIns="0" lIns="0" bIns="0" rIns="0">
              <a:spAutoFit/>
            </a:bodyPr>
            <a:lstStyle/>
            <a:p>
              <a:pPr algn="l" marL="0" indent="0" lvl="0">
                <a:lnSpc>
                  <a:spcPts val="3780"/>
                </a:lnSpc>
              </a:pPr>
              <a:r>
                <a:rPr lang="en-US" sz="2700">
                  <a:solidFill>
                    <a:srgbClr val="E0E7FF"/>
                  </a:solidFill>
                  <a:latin typeface="Carlito"/>
                  <a:ea typeface="Carlito"/>
                  <a:cs typeface="Carlito"/>
                  <a:sym typeface="Carlito"/>
                </a:rPr>
                <a:t>Design a </a:t>
              </a:r>
              <a:r>
                <a:rPr lang="en-US" b="true" sz="2700">
                  <a:solidFill>
                    <a:srgbClr val="E0E7FF"/>
                  </a:solidFill>
                  <a:latin typeface="Carlito Bold"/>
                  <a:ea typeface="Carlito Bold"/>
                  <a:cs typeface="Carlito Bold"/>
                  <a:sym typeface="Carlito Bold"/>
                </a:rPr>
                <a:t>friendly menu</a:t>
              </a:r>
              <a:r>
                <a:rPr lang="en-US" sz="2700">
                  <a:solidFill>
                    <a:srgbClr val="E0E7FF"/>
                  </a:solidFill>
                  <a:latin typeface="Carlito"/>
                  <a:ea typeface="Carlito"/>
                  <a:cs typeface="Carlito"/>
                  <a:sym typeface="Carlito"/>
                </a:rPr>
                <a:t> for navigation</a:t>
              </a:r>
            </a:p>
          </p:txBody>
        </p:sp>
        <p:sp>
          <p:nvSpPr>
            <p:cNvPr name="TextBox 19" id="19"/>
            <p:cNvSpPr txBox="true"/>
            <p:nvPr/>
          </p:nvSpPr>
          <p:spPr>
            <a:xfrm rot="0">
              <a:off x="0" y="-47625"/>
              <a:ext cx="3909158" cy="601652"/>
            </a:xfrm>
            <a:prstGeom prst="rect">
              <a:avLst/>
            </a:prstGeom>
          </p:spPr>
          <p:txBody>
            <a:bodyPr anchor="t" rtlCol="false" tIns="0" lIns="0" bIns="0" rIns="0">
              <a:spAutoFit/>
            </a:bodyPr>
            <a:lstStyle/>
            <a:p>
              <a:pPr algn="l" marL="0" indent="0" lvl="0">
                <a:lnSpc>
                  <a:spcPts val="3872"/>
                </a:lnSpc>
                <a:spcBef>
                  <a:spcPct val="0"/>
                </a:spcBef>
              </a:pPr>
              <a:r>
                <a:rPr lang="en-US" sz="2765">
                  <a:solidFill>
                    <a:srgbClr val="BFDBFE"/>
                  </a:solidFill>
                  <a:latin typeface="Radley"/>
                  <a:ea typeface="Radley"/>
                  <a:cs typeface="Radley"/>
                  <a:sym typeface="Radley"/>
                </a:rPr>
                <a:t>User Interface</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E3A8A"/>
        </a:solidFill>
      </p:bgPr>
    </p:bg>
    <p:spTree>
      <p:nvGrpSpPr>
        <p:cNvPr id="1" name=""/>
        <p:cNvGrpSpPr/>
        <p:nvPr/>
      </p:nvGrpSpPr>
      <p:grpSpPr>
        <a:xfrm>
          <a:off x="0" y="0"/>
          <a:ext cx="0" cy="0"/>
          <a:chOff x="0" y="0"/>
          <a:chExt cx="0" cy="0"/>
        </a:xfrm>
      </p:grpSpPr>
      <p:grpSp>
        <p:nvGrpSpPr>
          <p:cNvPr name="Group 2" id="2"/>
          <p:cNvGrpSpPr/>
          <p:nvPr/>
        </p:nvGrpSpPr>
        <p:grpSpPr>
          <a:xfrm rot="0">
            <a:off x="11829788" y="783383"/>
            <a:ext cx="4952735" cy="6483581"/>
            <a:chOff x="0" y="0"/>
            <a:chExt cx="1217429" cy="1593725"/>
          </a:xfrm>
        </p:grpSpPr>
        <p:sp>
          <p:nvSpPr>
            <p:cNvPr name="Freeform 3" id="3"/>
            <p:cNvSpPr/>
            <p:nvPr/>
          </p:nvSpPr>
          <p:spPr>
            <a:xfrm flipH="false" flipV="false" rot="0">
              <a:off x="0" y="0"/>
              <a:ext cx="1217429" cy="1593725"/>
            </a:xfrm>
            <a:custGeom>
              <a:avLst/>
              <a:gdLst/>
              <a:ahLst/>
              <a:cxnLst/>
              <a:rect r="r" b="b" t="t" l="l"/>
              <a:pathLst>
                <a:path h="1593725" w="1217429">
                  <a:moveTo>
                    <a:pt x="0" y="0"/>
                  </a:moveTo>
                  <a:lnTo>
                    <a:pt x="1217429" y="0"/>
                  </a:lnTo>
                  <a:lnTo>
                    <a:pt x="1217429" y="1593725"/>
                  </a:lnTo>
                  <a:lnTo>
                    <a:pt x="0" y="1593725"/>
                  </a:lnTo>
                  <a:close/>
                </a:path>
              </a:pathLst>
            </a:custGeom>
            <a:blipFill>
              <a:blip r:embed="rId2"/>
              <a:stretch>
                <a:fillRect l="0" t="-255" r="0" b="-255"/>
              </a:stretch>
            </a:blipFill>
          </p:spPr>
        </p:sp>
      </p:grpSp>
      <p:grpSp>
        <p:nvGrpSpPr>
          <p:cNvPr name="Group 4" id="4"/>
          <p:cNvGrpSpPr/>
          <p:nvPr/>
        </p:nvGrpSpPr>
        <p:grpSpPr>
          <a:xfrm rot="0">
            <a:off x="1218356" y="1384059"/>
            <a:ext cx="9281184" cy="7518882"/>
            <a:chOff x="0" y="0"/>
            <a:chExt cx="12374911" cy="10025175"/>
          </a:xfrm>
        </p:grpSpPr>
        <p:sp>
          <p:nvSpPr>
            <p:cNvPr name="TextBox 5" id="5"/>
            <p:cNvSpPr txBox="true"/>
            <p:nvPr/>
          </p:nvSpPr>
          <p:spPr>
            <a:xfrm rot="0">
              <a:off x="33791" y="66675"/>
              <a:ext cx="12341120" cy="3445671"/>
            </a:xfrm>
            <a:prstGeom prst="rect">
              <a:avLst/>
            </a:prstGeom>
          </p:spPr>
          <p:txBody>
            <a:bodyPr anchor="t" rtlCol="false" tIns="0" lIns="0" bIns="0" rIns="0">
              <a:spAutoFit/>
            </a:bodyPr>
            <a:lstStyle/>
            <a:p>
              <a:pPr algn="l" marL="0" indent="0" lvl="0">
                <a:lnSpc>
                  <a:spcPts val="10063"/>
                </a:lnSpc>
                <a:spcBef>
                  <a:spcPct val="0"/>
                </a:spcBef>
              </a:pPr>
              <a:r>
                <a:rPr lang="en-US" sz="8985" i="true">
                  <a:solidFill>
                    <a:srgbClr val="FFFFFF"/>
                  </a:solidFill>
                  <a:latin typeface="Radley Italics"/>
                  <a:ea typeface="Radley Italics"/>
                  <a:cs typeface="Radley Italics"/>
                  <a:sym typeface="Radley Italics"/>
                </a:rPr>
                <a:t>System Requirements</a:t>
              </a:r>
            </a:p>
          </p:txBody>
        </p:sp>
        <p:sp>
          <p:nvSpPr>
            <p:cNvPr name="TextBox 6" id="6"/>
            <p:cNvSpPr txBox="true"/>
            <p:nvPr/>
          </p:nvSpPr>
          <p:spPr>
            <a:xfrm rot="0">
              <a:off x="33791" y="4769446"/>
              <a:ext cx="12341120" cy="1783596"/>
            </a:xfrm>
            <a:prstGeom prst="rect">
              <a:avLst/>
            </a:prstGeom>
          </p:spPr>
          <p:txBody>
            <a:bodyPr anchor="t" rtlCol="false" tIns="0" lIns="0" bIns="0" rIns="0">
              <a:spAutoFit/>
            </a:bodyPr>
            <a:lstStyle/>
            <a:p>
              <a:pPr algn="l" marL="0" indent="0" lvl="0">
                <a:lnSpc>
                  <a:spcPts val="5390"/>
                </a:lnSpc>
                <a:spcBef>
                  <a:spcPct val="0"/>
                </a:spcBef>
              </a:pPr>
              <a:r>
                <a:rPr lang="en-US" sz="4492" u="none">
                  <a:solidFill>
                    <a:srgbClr val="BFDBFE"/>
                  </a:solidFill>
                  <a:latin typeface="Radley"/>
                  <a:ea typeface="Radley"/>
                  <a:cs typeface="Radley"/>
                  <a:sym typeface="Radley"/>
                </a:rPr>
                <a:t>Essential Hardware and Software for Optimal Performance</a:t>
              </a:r>
            </a:p>
          </p:txBody>
        </p:sp>
        <p:sp>
          <p:nvSpPr>
            <p:cNvPr name="AutoShape 7" id="7"/>
            <p:cNvSpPr/>
            <p:nvPr/>
          </p:nvSpPr>
          <p:spPr>
            <a:xfrm>
              <a:off x="0" y="4136133"/>
              <a:ext cx="12341120" cy="0"/>
            </a:xfrm>
            <a:prstGeom prst="line">
              <a:avLst/>
            </a:prstGeom>
            <a:ln cap="flat" w="32602">
              <a:solidFill>
                <a:srgbClr val="FFFFFF"/>
              </a:solidFill>
              <a:prstDash val="solid"/>
              <a:headEnd type="none" len="sm" w="sm"/>
              <a:tailEnd type="none" len="sm" w="sm"/>
            </a:ln>
          </p:spPr>
        </p:sp>
        <p:sp>
          <p:nvSpPr>
            <p:cNvPr name="TextBox 8" id="8"/>
            <p:cNvSpPr txBox="true"/>
            <p:nvPr/>
          </p:nvSpPr>
          <p:spPr>
            <a:xfrm rot="0">
              <a:off x="33791" y="7369375"/>
              <a:ext cx="12307329" cy="2655801"/>
            </a:xfrm>
            <a:prstGeom prst="rect">
              <a:avLst/>
            </a:prstGeom>
          </p:spPr>
          <p:txBody>
            <a:bodyPr anchor="t" rtlCol="false" tIns="0" lIns="0" bIns="0" rIns="0">
              <a:spAutoFit/>
            </a:bodyPr>
            <a:lstStyle/>
            <a:p>
              <a:pPr algn="l" marL="0" indent="0" lvl="0">
                <a:lnSpc>
                  <a:spcPts val="3080"/>
                </a:lnSpc>
              </a:pPr>
              <a:r>
                <a:rPr lang="en-US" sz="2567">
                  <a:solidFill>
                    <a:srgbClr val="E0E7FF"/>
                  </a:solidFill>
                  <a:latin typeface="Carlito"/>
                  <a:ea typeface="Carlito"/>
                  <a:cs typeface="Carlito"/>
                  <a:sym typeface="Carlito"/>
                </a:rPr>
                <a:t>To effectively run the Matrix Operations Tool, your system should meet these minimum requirements: an </a:t>
              </a:r>
              <a:r>
                <a:rPr lang="en-US" b="true" sz="2567">
                  <a:solidFill>
                    <a:srgbClr val="E0E7FF"/>
                  </a:solidFill>
                  <a:latin typeface="Carlito Bold"/>
                  <a:ea typeface="Carlito Bold"/>
                  <a:cs typeface="Carlito Bold"/>
                  <a:sym typeface="Carlito Bold"/>
                </a:rPr>
                <a:t>Intel i3 processor or higher</a:t>
              </a:r>
              <a:r>
                <a:rPr lang="en-US" sz="2567">
                  <a:solidFill>
                    <a:srgbClr val="E0E7FF"/>
                  </a:solidFill>
                  <a:latin typeface="Carlito"/>
                  <a:ea typeface="Carlito"/>
                  <a:cs typeface="Carlito"/>
                  <a:sym typeface="Carlito"/>
                </a:rPr>
                <a:t>, at least </a:t>
              </a:r>
              <a:r>
                <a:rPr lang="en-US" b="true" sz="2567">
                  <a:solidFill>
                    <a:srgbClr val="E0E7FF"/>
                  </a:solidFill>
                  <a:latin typeface="Carlito Bold"/>
                  <a:ea typeface="Carlito Bold"/>
                  <a:cs typeface="Carlito Bold"/>
                  <a:sym typeface="Carlito Bold"/>
                </a:rPr>
                <a:t>4GB of RAM</a:t>
              </a:r>
              <a:r>
                <a:rPr lang="en-US" sz="2567">
                  <a:solidFill>
                    <a:srgbClr val="E0E7FF"/>
                  </a:solidFill>
                  <a:latin typeface="Carlito"/>
                  <a:ea typeface="Carlito"/>
                  <a:cs typeface="Carlito"/>
                  <a:sym typeface="Carlito"/>
                </a:rPr>
                <a:t>, and an operating system of either </a:t>
              </a:r>
              <a:r>
                <a:rPr lang="en-US" b="true" sz="2567">
                  <a:solidFill>
                    <a:srgbClr val="E0E7FF"/>
                  </a:solidFill>
                  <a:latin typeface="Carlito Bold"/>
                  <a:ea typeface="Carlito Bold"/>
                  <a:cs typeface="Carlito Bold"/>
                  <a:sym typeface="Carlito Bold"/>
                </a:rPr>
                <a:t>Windows or Linux</a:t>
              </a:r>
              <a:r>
                <a:rPr lang="en-US" sz="2567">
                  <a:solidFill>
                    <a:srgbClr val="E0E7FF"/>
                  </a:solidFill>
                  <a:latin typeface="Carlito"/>
                  <a:ea typeface="Carlito"/>
                  <a:cs typeface="Carlito"/>
                  <a:sym typeface="Carlito"/>
                </a:rPr>
                <a:t>. Additionally, the tool needs a </a:t>
              </a:r>
              <a:r>
                <a:rPr lang="en-US" b="true" sz="2567">
                  <a:solidFill>
                    <a:srgbClr val="E0E7FF"/>
                  </a:solidFill>
                  <a:latin typeface="Carlito Bold"/>
                  <a:ea typeface="Carlito Bold"/>
                  <a:cs typeface="Carlito Bold"/>
                  <a:sym typeface="Carlito Bold"/>
                </a:rPr>
                <a:t>GCC compiler</a:t>
              </a:r>
              <a:r>
                <a:rPr lang="en-US" sz="2567">
                  <a:solidFill>
                    <a:srgbClr val="E0E7FF"/>
                  </a:solidFill>
                  <a:latin typeface="Carlito"/>
                  <a:ea typeface="Carlito"/>
                  <a:cs typeface="Carlito"/>
                  <a:sym typeface="Carlito"/>
                </a:rPr>
                <a:t> to execute the C programming code seamlessly.</a:t>
              </a:r>
            </a:p>
          </p:txBody>
        </p:sp>
      </p:grpSp>
      <p:grpSp>
        <p:nvGrpSpPr>
          <p:cNvPr name="Group 9" id="9"/>
          <p:cNvGrpSpPr/>
          <p:nvPr/>
        </p:nvGrpSpPr>
        <p:grpSpPr>
          <a:xfrm rot="0">
            <a:off x="-953374" y="-1177096"/>
            <a:ext cx="2171730" cy="2205796"/>
            <a:chOff x="0" y="0"/>
            <a:chExt cx="812800" cy="825500"/>
          </a:xfrm>
        </p:grpSpPr>
        <p:sp>
          <p:nvSpPr>
            <p:cNvPr name="Freeform 10" id="10"/>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FFFFFF"/>
            </a:solidFill>
          </p:spPr>
        </p:sp>
        <p:sp>
          <p:nvSpPr>
            <p:cNvPr name="TextBox 11" id="11"/>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12" id="12"/>
          <p:cNvSpPr/>
          <p:nvPr/>
        </p:nvSpPr>
        <p:spPr>
          <a:xfrm flipH="false" flipV="false" rot="0">
            <a:off x="14743827" y="6389265"/>
            <a:ext cx="4077393" cy="4114800"/>
          </a:xfrm>
          <a:custGeom>
            <a:avLst/>
            <a:gdLst/>
            <a:ahLst/>
            <a:cxnLst/>
            <a:rect r="r" b="b" t="t" l="l"/>
            <a:pathLst>
              <a:path h="4114800" w="4077393">
                <a:moveTo>
                  <a:pt x="0" y="0"/>
                </a:moveTo>
                <a:lnTo>
                  <a:pt x="4077392" y="0"/>
                </a:lnTo>
                <a:lnTo>
                  <a:pt x="407739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0" y="891841"/>
            <a:ext cx="11469963" cy="8612899"/>
          </a:xfrm>
          <a:custGeom>
            <a:avLst/>
            <a:gdLst/>
            <a:ahLst/>
            <a:cxnLst/>
            <a:rect r="r" b="b" t="t" l="l"/>
            <a:pathLst>
              <a:path h="8612899" w="11469963">
                <a:moveTo>
                  <a:pt x="0" y="0"/>
                </a:moveTo>
                <a:lnTo>
                  <a:pt x="11469963" y="0"/>
                </a:lnTo>
                <a:lnTo>
                  <a:pt x="11469963" y="8612900"/>
                </a:lnTo>
                <a:lnTo>
                  <a:pt x="0" y="86129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E3A8A"/>
        </a:solidFill>
      </p:bgPr>
    </p:bg>
    <p:spTree>
      <p:nvGrpSpPr>
        <p:cNvPr id="1" name=""/>
        <p:cNvGrpSpPr/>
        <p:nvPr/>
      </p:nvGrpSpPr>
      <p:grpSpPr>
        <a:xfrm>
          <a:off x="0" y="0"/>
          <a:ext cx="0" cy="0"/>
          <a:chOff x="0" y="0"/>
          <a:chExt cx="0" cy="0"/>
        </a:xfrm>
      </p:grpSpPr>
      <p:sp>
        <p:nvSpPr>
          <p:cNvPr name="Freeform 2" id="2"/>
          <p:cNvSpPr/>
          <p:nvPr/>
        </p:nvSpPr>
        <p:spPr>
          <a:xfrm flipH="false" flipV="false" rot="0">
            <a:off x="14765084" y="6955522"/>
            <a:ext cx="6217418" cy="4114800"/>
          </a:xfrm>
          <a:custGeom>
            <a:avLst/>
            <a:gdLst/>
            <a:ahLst/>
            <a:cxnLst/>
            <a:rect r="r" b="b" t="t" l="l"/>
            <a:pathLst>
              <a:path h="4114800" w="6217418">
                <a:moveTo>
                  <a:pt x="0" y="0"/>
                </a:moveTo>
                <a:lnTo>
                  <a:pt x="6217418" y="0"/>
                </a:lnTo>
                <a:lnTo>
                  <a:pt x="621741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922042">
            <a:off x="16532604" y="-2576468"/>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725672">
            <a:off x="32410" y="32410"/>
            <a:ext cx="3030960" cy="3030960"/>
          </a:xfrm>
          <a:custGeom>
            <a:avLst/>
            <a:gdLst/>
            <a:ahLst/>
            <a:cxnLst/>
            <a:rect r="r" b="b" t="t" l="l"/>
            <a:pathLst>
              <a:path h="3030960" w="3030960">
                <a:moveTo>
                  <a:pt x="0" y="0"/>
                </a:moveTo>
                <a:lnTo>
                  <a:pt x="3030959" y="0"/>
                </a:lnTo>
                <a:lnTo>
                  <a:pt x="3030959" y="3030959"/>
                </a:lnTo>
                <a:lnTo>
                  <a:pt x="0" y="30309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062430" y="6829687"/>
            <a:ext cx="4310743" cy="4114800"/>
          </a:xfrm>
          <a:custGeom>
            <a:avLst/>
            <a:gdLst/>
            <a:ahLst/>
            <a:cxnLst/>
            <a:rect r="r" b="b" t="t" l="l"/>
            <a:pathLst>
              <a:path h="4114800" w="4310743">
                <a:moveTo>
                  <a:pt x="0" y="0"/>
                </a:moveTo>
                <a:lnTo>
                  <a:pt x="4310742" y="0"/>
                </a:lnTo>
                <a:lnTo>
                  <a:pt x="4310742"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2381250" y="808751"/>
            <a:ext cx="13915675" cy="922020"/>
          </a:xfrm>
          <a:prstGeom prst="rect">
            <a:avLst/>
          </a:prstGeom>
        </p:spPr>
        <p:txBody>
          <a:bodyPr anchor="t" rtlCol="false" tIns="0" lIns="0" bIns="0" rIns="0">
            <a:spAutoFit/>
          </a:bodyPr>
          <a:lstStyle/>
          <a:p>
            <a:pPr algn="l" marL="0" indent="0" lvl="0">
              <a:lnSpc>
                <a:spcPts val="7140"/>
              </a:lnSpc>
              <a:spcBef>
                <a:spcPct val="0"/>
              </a:spcBef>
            </a:pPr>
            <a:r>
              <a:rPr lang="en-US" sz="6375">
                <a:solidFill>
                  <a:srgbClr val="FFFFFF"/>
                </a:solidFill>
                <a:latin typeface="Radley"/>
                <a:ea typeface="Radley"/>
                <a:cs typeface="Radley"/>
                <a:sym typeface="Radley"/>
              </a:rPr>
              <a:t>Step-by-Step Algorithm Overview</a:t>
            </a:r>
          </a:p>
        </p:txBody>
      </p:sp>
      <p:sp>
        <p:nvSpPr>
          <p:cNvPr name="TextBox 7" id="7"/>
          <p:cNvSpPr txBox="true"/>
          <p:nvPr/>
        </p:nvSpPr>
        <p:spPr>
          <a:xfrm rot="0">
            <a:off x="934149" y="1968704"/>
            <a:ext cx="9246467" cy="7162183"/>
          </a:xfrm>
          <a:prstGeom prst="rect">
            <a:avLst/>
          </a:prstGeom>
        </p:spPr>
        <p:txBody>
          <a:bodyPr anchor="t" rtlCol="false" tIns="0" lIns="0" bIns="0" rIns="0">
            <a:spAutoFit/>
          </a:bodyPr>
          <a:lstStyle/>
          <a:p>
            <a:pPr algn="l">
              <a:lnSpc>
                <a:spcPts val="4948"/>
              </a:lnSpc>
              <a:spcBef>
                <a:spcPct val="0"/>
              </a:spcBef>
            </a:pPr>
            <a:r>
              <a:rPr lang="en-US" sz="3534">
                <a:solidFill>
                  <a:srgbClr val="FFFFFF"/>
                </a:solidFill>
                <a:latin typeface="Radley"/>
                <a:ea typeface="Radley"/>
                <a:cs typeface="Radley"/>
                <a:sym typeface="Radley"/>
              </a:rPr>
              <a:t>1️⃣ Start program</a:t>
            </a:r>
          </a:p>
          <a:p>
            <a:pPr algn="l">
              <a:lnSpc>
                <a:spcPts val="4948"/>
              </a:lnSpc>
              <a:spcBef>
                <a:spcPct val="0"/>
              </a:spcBef>
            </a:pPr>
            <a:r>
              <a:rPr lang="en-US" sz="3534">
                <a:solidFill>
                  <a:srgbClr val="FFFFFF"/>
                </a:solidFill>
                <a:latin typeface="Radley"/>
                <a:ea typeface="Radley"/>
                <a:cs typeface="Radley"/>
                <a:sym typeface="Radley"/>
              </a:rPr>
              <a:t>2️⃣ Display menu:</a:t>
            </a:r>
          </a:p>
          <a:p>
            <a:pPr algn="l">
              <a:lnSpc>
                <a:spcPts val="3784"/>
              </a:lnSpc>
              <a:spcBef>
                <a:spcPct val="0"/>
              </a:spcBef>
            </a:pPr>
            <a:r>
              <a:rPr lang="en-US" sz="2703">
                <a:solidFill>
                  <a:srgbClr val="FFFFFF"/>
                </a:solidFill>
                <a:latin typeface="Radley"/>
                <a:ea typeface="Radley"/>
                <a:cs typeface="Radley"/>
                <a:sym typeface="Radley"/>
              </a:rPr>
              <a:t>      1 → Add 2 → Subtract 3 → Multiply</a:t>
            </a:r>
          </a:p>
          <a:p>
            <a:pPr algn="l">
              <a:lnSpc>
                <a:spcPts val="3784"/>
              </a:lnSpc>
              <a:spcBef>
                <a:spcPct val="0"/>
              </a:spcBef>
            </a:pPr>
            <a:r>
              <a:rPr lang="en-US" sz="2703">
                <a:solidFill>
                  <a:srgbClr val="FFFFFF"/>
                </a:solidFill>
                <a:latin typeface="Radley"/>
                <a:ea typeface="Radley"/>
                <a:cs typeface="Radley"/>
                <a:sym typeface="Radley"/>
              </a:rPr>
              <a:t>     4 → Transpose 5 → Row Sum 6 → Column Sum 7 → Exit</a:t>
            </a:r>
          </a:p>
          <a:p>
            <a:pPr algn="l">
              <a:lnSpc>
                <a:spcPts val="4948"/>
              </a:lnSpc>
              <a:spcBef>
                <a:spcPct val="0"/>
              </a:spcBef>
            </a:pPr>
            <a:r>
              <a:rPr lang="en-US" sz="3534">
                <a:solidFill>
                  <a:srgbClr val="FFFFFF"/>
                </a:solidFill>
                <a:latin typeface="Radley"/>
                <a:ea typeface="Radley"/>
                <a:cs typeface="Radley"/>
                <a:sym typeface="Radley"/>
              </a:rPr>
              <a:t> 3️⃣ Read user choice</a:t>
            </a:r>
          </a:p>
          <a:p>
            <a:pPr algn="l">
              <a:lnSpc>
                <a:spcPts val="4948"/>
              </a:lnSpc>
              <a:spcBef>
                <a:spcPct val="0"/>
              </a:spcBef>
            </a:pPr>
            <a:r>
              <a:rPr lang="en-US" sz="3534">
                <a:solidFill>
                  <a:srgbClr val="FFFFFF"/>
                </a:solidFill>
                <a:latin typeface="Radley"/>
                <a:ea typeface="Radley"/>
                <a:cs typeface="Radley"/>
                <a:sym typeface="Radley"/>
              </a:rPr>
              <a:t> 4️⃣ If choice = 7: Display “Exit” → Stop</a:t>
            </a:r>
          </a:p>
          <a:p>
            <a:pPr algn="l">
              <a:lnSpc>
                <a:spcPts val="4948"/>
              </a:lnSpc>
              <a:spcBef>
                <a:spcPct val="0"/>
              </a:spcBef>
            </a:pPr>
            <a:r>
              <a:rPr lang="en-US" sz="3534">
                <a:solidFill>
                  <a:srgbClr val="FFFFFF"/>
                </a:solidFill>
                <a:latin typeface="Radley"/>
                <a:ea typeface="Radley"/>
                <a:cs typeface="Radley"/>
                <a:sym typeface="Radley"/>
              </a:rPr>
              <a:t> 5️⃣ If Add/Sub:</a:t>
            </a:r>
          </a:p>
          <a:p>
            <a:pPr algn="l">
              <a:lnSpc>
                <a:spcPts val="4948"/>
              </a:lnSpc>
              <a:spcBef>
                <a:spcPct val="0"/>
              </a:spcBef>
            </a:pPr>
            <a:r>
              <a:rPr lang="en-US" sz="3534">
                <a:solidFill>
                  <a:srgbClr val="FFFFFF"/>
                </a:solidFill>
                <a:latin typeface="Radley"/>
                <a:ea typeface="Radley"/>
                <a:cs typeface="Radley"/>
                <a:sym typeface="Radley"/>
              </a:rPr>
              <a:t>       • Read rows &amp; cols (r, c)</a:t>
            </a:r>
          </a:p>
          <a:p>
            <a:pPr algn="l">
              <a:lnSpc>
                <a:spcPts val="4948"/>
              </a:lnSpc>
              <a:spcBef>
                <a:spcPct val="0"/>
              </a:spcBef>
            </a:pPr>
            <a:r>
              <a:rPr lang="en-US" sz="3534">
                <a:solidFill>
                  <a:srgbClr val="FFFFFF"/>
                </a:solidFill>
                <a:latin typeface="Radley"/>
                <a:ea typeface="Radley"/>
                <a:cs typeface="Radley"/>
                <a:sym typeface="Radley"/>
              </a:rPr>
              <a:t>       • Read matrices A &amp; B</a:t>
            </a:r>
          </a:p>
          <a:p>
            <a:pPr algn="l">
              <a:lnSpc>
                <a:spcPts val="4948"/>
              </a:lnSpc>
              <a:spcBef>
                <a:spcPct val="0"/>
              </a:spcBef>
            </a:pPr>
            <a:r>
              <a:rPr lang="en-US" sz="3534">
                <a:solidFill>
                  <a:srgbClr val="FFFFFF"/>
                </a:solidFill>
                <a:latin typeface="Radley"/>
                <a:ea typeface="Radley"/>
                <a:cs typeface="Radley"/>
                <a:sym typeface="Radley"/>
              </a:rPr>
              <a:t>       • Perform A ± B</a:t>
            </a:r>
          </a:p>
          <a:p>
            <a:pPr algn="l">
              <a:lnSpc>
                <a:spcPts val="4948"/>
              </a:lnSpc>
              <a:spcBef>
                <a:spcPct val="0"/>
              </a:spcBef>
            </a:pPr>
            <a:r>
              <a:rPr lang="en-US" sz="3534">
                <a:solidFill>
                  <a:srgbClr val="FFFFFF"/>
                </a:solidFill>
                <a:latin typeface="Radley"/>
                <a:ea typeface="Radley"/>
                <a:cs typeface="Radley"/>
                <a:sym typeface="Radley"/>
              </a:rPr>
              <a:t>       • Display result</a:t>
            </a:r>
          </a:p>
          <a:p>
            <a:pPr algn="l">
              <a:lnSpc>
                <a:spcPts val="4948"/>
              </a:lnSpc>
              <a:spcBef>
                <a:spcPct val="0"/>
              </a:spcBef>
            </a:pPr>
            <a:r>
              <a:rPr lang="en-US" sz="3534">
                <a:solidFill>
                  <a:srgbClr val="FFFFFF"/>
                </a:solidFill>
                <a:latin typeface="Radley"/>
                <a:ea typeface="Radley"/>
                <a:cs typeface="Radley"/>
                <a:sym typeface="Radley"/>
              </a:rPr>
              <a:t> </a:t>
            </a:r>
          </a:p>
        </p:txBody>
      </p:sp>
      <p:sp>
        <p:nvSpPr>
          <p:cNvPr name="TextBox 8" id="8"/>
          <p:cNvSpPr txBox="true"/>
          <p:nvPr/>
        </p:nvSpPr>
        <p:spPr>
          <a:xfrm rot="0">
            <a:off x="10515640" y="1850935"/>
            <a:ext cx="6970163" cy="6426290"/>
          </a:xfrm>
          <a:prstGeom prst="rect">
            <a:avLst/>
          </a:prstGeom>
        </p:spPr>
        <p:txBody>
          <a:bodyPr anchor="t" rtlCol="false" tIns="0" lIns="0" bIns="0" rIns="0">
            <a:spAutoFit/>
          </a:bodyPr>
          <a:lstStyle/>
          <a:p>
            <a:pPr algn="l">
              <a:lnSpc>
                <a:spcPts val="4895"/>
              </a:lnSpc>
              <a:spcBef>
                <a:spcPct val="0"/>
              </a:spcBef>
            </a:pPr>
            <a:r>
              <a:rPr lang="en-US" sz="3496">
                <a:solidFill>
                  <a:srgbClr val="FFFFFF"/>
                </a:solidFill>
                <a:latin typeface="Radley"/>
                <a:ea typeface="Radley"/>
                <a:cs typeface="Radley"/>
                <a:sym typeface="Radley"/>
              </a:rPr>
              <a:t>6️⃣ If Multiply:</a:t>
            </a:r>
          </a:p>
          <a:p>
            <a:pPr algn="l">
              <a:lnSpc>
                <a:spcPts val="4055"/>
              </a:lnSpc>
              <a:spcBef>
                <a:spcPct val="0"/>
              </a:spcBef>
            </a:pPr>
            <a:r>
              <a:rPr lang="en-US" sz="2896">
                <a:solidFill>
                  <a:srgbClr val="FFFFFF"/>
                </a:solidFill>
                <a:latin typeface="Radley"/>
                <a:ea typeface="Radley"/>
                <a:cs typeface="Radley"/>
                <a:sym typeface="Radley"/>
              </a:rPr>
              <a:t>       • Read sizes A(r₁, c₁), B(r₂, c₂)</a:t>
            </a:r>
          </a:p>
          <a:p>
            <a:pPr algn="l">
              <a:lnSpc>
                <a:spcPts val="4055"/>
              </a:lnSpc>
              <a:spcBef>
                <a:spcPct val="0"/>
              </a:spcBef>
            </a:pPr>
            <a:r>
              <a:rPr lang="en-US" sz="2896">
                <a:solidFill>
                  <a:srgbClr val="FFFFFF"/>
                </a:solidFill>
                <a:latin typeface="Radley"/>
                <a:ea typeface="Radley"/>
                <a:cs typeface="Radley"/>
                <a:sym typeface="Radley"/>
              </a:rPr>
              <a:t>       • If c₁ ≠ r₂ → print “Can’t     multiply”</a:t>
            </a:r>
          </a:p>
          <a:p>
            <a:pPr algn="l">
              <a:lnSpc>
                <a:spcPts val="4335"/>
              </a:lnSpc>
              <a:spcBef>
                <a:spcPct val="0"/>
              </a:spcBef>
            </a:pPr>
            <a:r>
              <a:rPr lang="en-US" sz="3096">
                <a:solidFill>
                  <a:srgbClr val="FFFFFF"/>
                </a:solidFill>
                <a:latin typeface="Radley"/>
                <a:ea typeface="Radley"/>
                <a:cs typeface="Radley"/>
                <a:sym typeface="Radley"/>
              </a:rPr>
              <a:t>      • Else multiply A × B → Display   result</a:t>
            </a:r>
          </a:p>
          <a:p>
            <a:pPr algn="l">
              <a:lnSpc>
                <a:spcPts val="4895"/>
              </a:lnSpc>
              <a:spcBef>
                <a:spcPct val="0"/>
              </a:spcBef>
            </a:pPr>
            <a:r>
              <a:rPr lang="en-US" sz="3496">
                <a:solidFill>
                  <a:srgbClr val="FFFFFF"/>
                </a:solidFill>
                <a:latin typeface="Radley"/>
                <a:ea typeface="Radley"/>
                <a:cs typeface="Radley"/>
                <a:sym typeface="Radley"/>
              </a:rPr>
              <a:t> 7️⃣ If Transpose / RowSum / ColSum:</a:t>
            </a:r>
          </a:p>
          <a:p>
            <a:pPr algn="l">
              <a:lnSpc>
                <a:spcPts val="4895"/>
              </a:lnSpc>
              <a:spcBef>
                <a:spcPct val="0"/>
              </a:spcBef>
            </a:pPr>
            <a:r>
              <a:rPr lang="en-US" sz="3496">
                <a:solidFill>
                  <a:srgbClr val="FFFFFF"/>
                </a:solidFill>
                <a:latin typeface="Radley"/>
                <a:ea typeface="Radley"/>
                <a:cs typeface="Radley"/>
                <a:sym typeface="Radley"/>
              </a:rPr>
              <a:t>  • Read matrix A</a:t>
            </a:r>
          </a:p>
          <a:p>
            <a:pPr algn="l">
              <a:lnSpc>
                <a:spcPts val="4895"/>
              </a:lnSpc>
              <a:spcBef>
                <a:spcPct val="0"/>
              </a:spcBef>
            </a:pPr>
            <a:r>
              <a:rPr lang="en-US" sz="3496">
                <a:solidFill>
                  <a:srgbClr val="FFFFFF"/>
                </a:solidFill>
                <a:latin typeface="Radley"/>
                <a:ea typeface="Radley"/>
                <a:cs typeface="Radley"/>
                <a:sym typeface="Radley"/>
              </a:rPr>
              <a:t>  •  Perform respective operation → Display result</a:t>
            </a:r>
          </a:p>
          <a:p>
            <a:pPr algn="l">
              <a:lnSpc>
                <a:spcPts val="4895"/>
              </a:lnSpc>
              <a:spcBef>
                <a:spcPct val="0"/>
              </a:spcBef>
            </a:pPr>
            <a:r>
              <a:rPr lang="en-US" sz="3496">
                <a:solidFill>
                  <a:srgbClr val="FFFFFF"/>
                </a:solidFill>
                <a:latin typeface="Radley"/>
                <a:ea typeface="Radley"/>
                <a:cs typeface="Radley"/>
                <a:sym typeface="Radley"/>
              </a:rPr>
              <a:t> 8️⃣ Return to menu and repeat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E3A8A"/>
        </a:solidFill>
      </p:bgPr>
    </p:bg>
    <p:spTree>
      <p:nvGrpSpPr>
        <p:cNvPr id="1" name=""/>
        <p:cNvGrpSpPr/>
        <p:nvPr/>
      </p:nvGrpSpPr>
      <p:grpSpPr>
        <a:xfrm>
          <a:off x="0" y="0"/>
          <a:ext cx="0" cy="0"/>
          <a:chOff x="0" y="0"/>
          <a:chExt cx="0" cy="0"/>
        </a:xfrm>
      </p:grpSpPr>
      <p:sp>
        <p:nvSpPr>
          <p:cNvPr name="Freeform 2" id="2"/>
          <p:cNvSpPr/>
          <p:nvPr/>
        </p:nvSpPr>
        <p:spPr>
          <a:xfrm flipH="false" flipV="false" rot="0">
            <a:off x="-2993100" y="-3992111"/>
            <a:ext cx="6403556" cy="6589744"/>
          </a:xfrm>
          <a:custGeom>
            <a:avLst/>
            <a:gdLst/>
            <a:ahLst/>
            <a:cxnLst/>
            <a:rect r="r" b="b" t="t" l="l"/>
            <a:pathLst>
              <a:path h="6589744" w="6403556">
                <a:moveTo>
                  <a:pt x="0" y="0"/>
                </a:moveTo>
                <a:lnTo>
                  <a:pt x="6403555" y="0"/>
                </a:lnTo>
                <a:lnTo>
                  <a:pt x="6403555" y="6589745"/>
                </a:lnTo>
                <a:lnTo>
                  <a:pt x="0" y="65897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57294" y="6172200"/>
            <a:ext cx="4092356" cy="4114800"/>
          </a:xfrm>
          <a:custGeom>
            <a:avLst/>
            <a:gdLst/>
            <a:ahLst/>
            <a:cxnLst/>
            <a:rect r="r" b="b" t="t" l="l"/>
            <a:pathLst>
              <a:path h="4114800" w="4092356">
                <a:moveTo>
                  <a:pt x="0" y="0"/>
                </a:moveTo>
                <a:lnTo>
                  <a:pt x="4092356" y="0"/>
                </a:lnTo>
                <a:lnTo>
                  <a:pt x="409235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124301" y="-2136046"/>
            <a:ext cx="7433694" cy="7433694"/>
          </a:xfrm>
          <a:custGeom>
            <a:avLst/>
            <a:gdLst/>
            <a:ahLst/>
            <a:cxnLst/>
            <a:rect r="r" b="b" t="t" l="l"/>
            <a:pathLst>
              <a:path h="7433694" w="7433694">
                <a:moveTo>
                  <a:pt x="0" y="0"/>
                </a:moveTo>
                <a:lnTo>
                  <a:pt x="7433695" y="0"/>
                </a:lnTo>
                <a:lnTo>
                  <a:pt x="7433695" y="7433694"/>
                </a:lnTo>
                <a:lnTo>
                  <a:pt x="0" y="74336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173200" y="6562288"/>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2450964" y="3144910"/>
            <a:ext cx="5967985" cy="3759125"/>
            <a:chOff x="0" y="0"/>
            <a:chExt cx="7957314" cy="5012166"/>
          </a:xfrm>
        </p:grpSpPr>
        <p:sp>
          <p:nvSpPr>
            <p:cNvPr name="TextBox 7" id="7"/>
            <p:cNvSpPr txBox="true"/>
            <p:nvPr/>
          </p:nvSpPr>
          <p:spPr>
            <a:xfrm rot="0">
              <a:off x="0" y="-114300"/>
              <a:ext cx="7957314" cy="2817324"/>
            </a:xfrm>
            <a:prstGeom prst="rect">
              <a:avLst/>
            </a:prstGeom>
          </p:spPr>
          <p:txBody>
            <a:bodyPr anchor="t" rtlCol="false" tIns="0" lIns="0" bIns="0" rIns="0">
              <a:spAutoFit/>
            </a:bodyPr>
            <a:lstStyle/>
            <a:p>
              <a:pPr algn="l" marL="0" indent="0" lvl="0">
                <a:lnSpc>
                  <a:spcPts val="8642"/>
                </a:lnSpc>
                <a:spcBef>
                  <a:spcPct val="0"/>
                </a:spcBef>
              </a:pPr>
              <a:r>
                <a:rPr lang="en-US" sz="6173">
                  <a:solidFill>
                    <a:srgbClr val="000000"/>
                  </a:solidFill>
                  <a:latin typeface="Radley"/>
                  <a:ea typeface="Radley"/>
                  <a:cs typeface="Radley"/>
                  <a:sym typeface="Radley"/>
                </a:rPr>
                <a:t>Flowchart Design</a:t>
              </a:r>
            </a:p>
          </p:txBody>
        </p:sp>
        <p:sp>
          <p:nvSpPr>
            <p:cNvPr name="TextBox 8" id="8"/>
            <p:cNvSpPr txBox="true"/>
            <p:nvPr/>
          </p:nvSpPr>
          <p:spPr>
            <a:xfrm rot="0">
              <a:off x="0" y="3136585"/>
              <a:ext cx="7957314" cy="1875582"/>
            </a:xfrm>
            <a:prstGeom prst="rect">
              <a:avLst/>
            </a:prstGeom>
          </p:spPr>
          <p:txBody>
            <a:bodyPr anchor="t" rtlCol="false" tIns="0" lIns="0" bIns="0" rIns="0">
              <a:spAutoFit/>
            </a:bodyPr>
            <a:lstStyle/>
            <a:p>
              <a:pPr algn="l" marL="0" indent="0" lvl="0">
                <a:lnSpc>
                  <a:spcPts val="5556"/>
                </a:lnSpc>
              </a:pPr>
              <a:r>
                <a:rPr lang="en-US" sz="3968">
                  <a:solidFill>
                    <a:srgbClr val="E0E7FF"/>
                  </a:solidFill>
                  <a:latin typeface="Carlito"/>
                  <a:ea typeface="Carlito"/>
                  <a:cs typeface="Carlito"/>
                  <a:sym typeface="Carlito"/>
                </a:rPr>
                <a:t>Visual representation of the system's workflow steps.</a:t>
              </a:r>
            </a:p>
          </p:txBody>
        </p:sp>
      </p:grpSp>
      <p:sp>
        <p:nvSpPr>
          <p:cNvPr name="Freeform 9" id="9"/>
          <p:cNvSpPr/>
          <p:nvPr/>
        </p:nvSpPr>
        <p:spPr>
          <a:xfrm flipH="false" flipV="false" rot="0">
            <a:off x="10806377" y="602677"/>
            <a:ext cx="6088729" cy="9081647"/>
          </a:xfrm>
          <a:custGeom>
            <a:avLst/>
            <a:gdLst/>
            <a:ahLst/>
            <a:cxnLst/>
            <a:rect r="r" b="b" t="t" l="l"/>
            <a:pathLst>
              <a:path h="9081647" w="6088729">
                <a:moveTo>
                  <a:pt x="0" y="0"/>
                </a:moveTo>
                <a:lnTo>
                  <a:pt x="6088729" y="0"/>
                </a:lnTo>
                <a:lnTo>
                  <a:pt x="6088729" y="9081646"/>
                </a:lnTo>
                <a:lnTo>
                  <a:pt x="0" y="9081646"/>
                </a:lnTo>
                <a:lnTo>
                  <a:pt x="0" y="0"/>
                </a:lnTo>
                <a:close/>
              </a:path>
            </a:pathLst>
          </a:custGeom>
          <a:blipFill>
            <a:blip r:embed="rId10"/>
            <a:stretch>
              <a:fillRect l="0" t="-629"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E3A8A"/>
        </a:solidFill>
      </p:bgPr>
    </p:bg>
    <p:spTree>
      <p:nvGrpSpPr>
        <p:cNvPr id="1" name=""/>
        <p:cNvGrpSpPr/>
        <p:nvPr/>
      </p:nvGrpSpPr>
      <p:grpSpPr>
        <a:xfrm>
          <a:off x="0" y="0"/>
          <a:ext cx="0" cy="0"/>
          <a:chOff x="0" y="0"/>
          <a:chExt cx="0" cy="0"/>
        </a:xfrm>
      </p:grpSpPr>
      <p:grpSp>
        <p:nvGrpSpPr>
          <p:cNvPr name="Group 2" id="2"/>
          <p:cNvGrpSpPr/>
          <p:nvPr/>
        </p:nvGrpSpPr>
        <p:grpSpPr>
          <a:xfrm rot="0">
            <a:off x="10429875" y="0"/>
            <a:ext cx="7858125" cy="10287000"/>
            <a:chOff x="0" y="0"/>
            <a:chExt cx="1217429" cy="1593725"/>
          </a:xfrm>
        </p:grpSpPr>
        <p:sp>
          <p:nvSpPr>
            <p:cNvPr name="Freeform 3" id="3"/>
            <p:cNvSpPr/>
            <p:nvPr/>
          </p:nvSpPr>
          <p:spPr>
            <a:xfrm flipH="false" flipV="false" rot="0">
              <a:off x="0" y="0"/>
              <a:ext cx="1217429" cy="1593725"/>
            </a:xfrm>
            <a:custGeom>
              <a:avLst/>
              <a:gdLst/>
              <a:ahLst/>
              <a:cxnLst/>
              <a:rect r="r" b="b" t="t" l="l"/>
              <a:pathLst>
                <a:path h="1593725" w="1217429">
                  <a:moveTo>
                    <a:pt x="0" y="0"/>
                  </a:moveTo>
                  <a:lnTo>
                    <a:pt x="1217429" y="0"/>
                  </a:lnTo>
                  <a:lnTo>
                    <a:pt x="1217429" y="1593725"/>
                  </a:lnTo>
                  <a:lnTo>
                    <a:pt x="0" y="1593725"/>
                  </a:lnTo>
                  <a:close/>
                </a:path>
              </a:pathLst>
            </a:custGeom>
            <a:blipFill>
              <a:blip r:embed="rId2"/>
              <a:stretch>
                <a:fillRect l="0" t="-255" r="0" b="-255"/>
              </a:stretch>
            </a:blipFill>
          </p:spPr>
        </p:sp>
      </p:grpSp>
      <p:grpSp>
        <p:nvGrpSpPr>
          <p:cNvPr name="Group 4" id="4"/>
          <p:cNvGrpSpPr/>
          <p:nvPr/>
        </p:nvGrpSpPr>
        <p:grpSpPr>
          <a:xfrm rot="0">
            <a:off x="666750" y="666755"/>
            <a:ext cx="9329554" cy="7951333"/>
            <a:chOff x="0" y="0"/>
            <a:chExt cx="12439406" cy="10601777"/>
          </a:xfrm>
        </p:grpSpPr>
        <p:sp>
          <p:nvSpPr>
            <p:cNvPr name="TextBox 5" id="5"/>
            <p:cNvSpPr txBox="true"/>
            <p:nvPr/>
          </p:nvSpPr>
          <p:spPr>
            <a:xfrm rot="0">
              <a:off x="33967" y="76200"/>
              <a:ext cx="12405439" cy="3454451"/>
            </a:xfrm>
            <a:prstGeom prst="rect">
              <a:avLst/>
            </a:prstGeom>
          </p:spPr>
          <p:txBody>
            <a:bodyPr anchor="t" rtlCol="false" tIns="0" lIns="0" bIns="0" rIns="0">
              <a:spAutoFit/>
            </a:bodyPr>
            <a:lstStyle/>
            <a:p>
              <a:pPr algn="l" marL="0" indent="0" lvl="0">
                <a:lnSpc>
                  <a:spcPts val="10115"/>
                </a:lnSpc>
                <a:spcBef>
                  <a:spcPct val="0"/>
                </a:spcBef>
              </a:pPr>
              <a:r>
                <a:rPr lang="en-US" sz="9031" i="true">
                  <a:solidFill>
                    <a:srgbClr val="FFFFFF"/>
                  </a:solidFill>
                  <a:latin typeface="Radley Italics"/>
                  <a:ea typeface="Radley Italics"/>
                  <a:cs typeface="Radley Italics"/>
                  <a:sym typeface="Radley Italics"/>
                </a:rPr>
                <a:t>Module Description</a:t>
              </a:r>
            </a:p>
          </p:txBody>
        </p:sp>
        <p:sp>
          <p:nvSpPr>
            <p:cNvPr name="TextBox 6" id="6"/>
            <p:cNvSpPr txBox="true"/>
            <p:nvPr/>
          </p:nvSpPr>
          <p:spPr>
            <a:xfrm rot="0">
              <a:off x="33967" y="4784728"/>
              <a:ext cx="12405439" cy="1802466"/>
            </a:xfrm>
            <a:prstGeom prst="rect">
              <a:avLst/>
            </a:prstGeom>
          </p:spPr>
          <p:txBody>
            <a:bodyPr anchor="t" rtlCol="false" tIns="0" lIns="0" bIns="0" rIns="0">
              <a:spAutoFit/>
            </a:bodyPr>
            <a:lstStyle/>
            <a:p>
              <a:pPr algn="l" marL="0" indent="0" lvl="0">
                <a:lnSpc>
                  <a:spcPts val="5418"/>
                </a:lnSpc>
                <a:spcBef>
                  <a:spcPct val="0"/>
                </a:spcBef>
              </a:pPr>
              <a:r>
                <a:rPr lang="en-US" sz="4515" u="none">
                  <a:solidFill>
                    <a:srgbClr val="BFDBFE"/>
                  </a:solidFill>
                  <a:latin typeface="Radley"/>
                  <a:ea typeface="Radley"/>
                  <a:cs typeface="Radley"/>
                  <a:sym typeface="Radley"/>
                </a:rPr>
                <a:t>Key Components for Matrix Operations and User Interaction</a:t>
              </a:r>
            </a:p>
          </p:txBody>
        </p:sp>
        <p:sp>
          <p:nvSpPr>
            <p:cNvPr name="AutoShape 7" id="7"/>
            <p:cNvSpPr/>
            <p:nvPr/>
          </p:nvSpPr>
          <p:spPr>
            <a:xfrm>
              <a:off x="0" y="4157690"/>
              <a:ext cx="12405439" cy="0"/>
            </a:xfrm>
            <a:prstGeom prst="line">
              <a:avLst/>
            </a:prstGeom>
            <a:ln cap="flat" w="32772">
              <a:solidFill>
                <a:srgbClr val="FFFFFF"/>
              </a:solidFill>
              <a:prstDash val="solid"/>
              <a:headEnd type="none" len="sm" w="sm"/>
              <a:tailEnd type="none" len="sm" w="sm"/>
            </a:ln>
          </p:spPr>
        </p:sp>
        <p:sp>
          <p:nvSpPr>
            <p:cNvPr name="TextBox 8" id="8"/>
            <p:cNvSpPr txBox="true"/>
            <p:nvPr/>
          </p:nvSpPr>
          <p:spPr>
            <a:xfrm rot="0">
              <a:off x="33967" y="7408030"/>
              <a:ext cx="12371471" cy="3193747"/>
            </a:xfrm>
            <a:prstGeom prst="rect">
              <a:avLst/>
            </a:prstGeom>
          </p:spPr>
          <p:txBody>
            <a:bodyPr anchor="t" rtlCol="false" tIns="0" lIns="0" bIns="0" rIns="0">
              <a:spAutoFit/>
            </a:bodyPr>
            <a:lstStyle/>
            <a:p>
              <a:pPr algn="l" marL="0" indent="0" lvl="0">
                <a:lnSpc>
                  <a:spcPts val="3096"/>
                </a:lnSpc>
              </a:pPr>
              <a:r>
                <a:rPr lang="en-US" sz="2580">
                  <a:solidFill>
                    <a:srgbClr val="E0E7FF"/>
                  </a:solidFill>
                  <a:latin typeface="Carlito"/>
                  <a:ea typeface="Carlito"/>
                  <a:cs typeface="Carlito"/>
                  <a:sym typeface="Carlito"/>
                </a:rPr>
                <a:t>The </a:t>
              </a:r>
              <a:r>
                <a:rPr lang="en-US" b="true" sz="2580">
                  <a:solidFill>
                    <a:srgbClr val="E0E7FF"/>
                  </a:solidFill>
                  <a:latin typeface="Carlito Bold"/>
                  <a:ea typeface="Carlito Bold"/>
                  <a:cs typeface="Carlito Bold"/>
                  <a:sym typeface="Carlito Bold"/>
                </a:rPr>
                <a:t>Matrix Operations Tool</a:t>
              </a:r>
              <a:r>
                <a:rPr lang="en-US" sz="2580">
                  <a:solidFill>
                    <a:srgbClr val="E0E7FF"/>
                  </a:solidFill>
                  <a:latin typeface="Carlito"/>
                  <a:ea typeface="Carlito"/>
                  <a:cs typeface="Carlito"/>
                  <a:sym typeface="Carlito"/>
                </a:rPr>
                <a:t> consists of three main modules: the Input Module gathers user data, the Processing Module executes calculations, and the Output Module presents results clearly. This modular design promotes clarity, enhances user experience, and maintains the program’s functionality, allowing for easy updates and improvements in the future.</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E3A8A"/>
        </a:solidFill>
      </p:bgPr>
    </p:bg>
    <p:spTree>
      <p:nvGrpSpPr>
        <p:cNvPr id="1" name=""/>
        <p:cNvGrpSpPr/>
        <p:nvPr/>
      </p:nvGrpSpPr>
      <p:grpSpPr>
        <a:xfrm>
          <a:off x="0" y="0"/>
          <a:ext cx="0" cy="0"/>
          <a:chOff x="0" y="0"/>
          <a:chExt cx="0" cy="0"/>
        </a:xfrm>
      </p:grpSpPr>
      <p:sp>
        <p:nvSpPr>
          <p:cNvPr name="TextBox 2" id="2"/>
          <p:cNvSpPr txBox="true"/>
          <p:nvPr/>
        </p:nvSpPr>
        <p:spPr>
          <a:xfrm rot="0">
            <a:off x="1909544" y="655276"/>
            <a:ext cx="15034777" cy="8909772"/>
          </a:xfrm>
          <a:prstGeom prst="rect">
            <a:avLst/>
          </a:prstGeom>
        </p:spPr>
        <p:txBody>
          <a:bodyPr anchor="t" rtlCol="false" tIns="0" lIns="0" bIns="0" rIns="0">
            <a:spAutoFit/>
          </a:bodyPr>
          <a:lstStyle/>
          <a:p>
            <a:pPr algn="l">
              <a:lnSpc>
                <a:spcPts val="5269"/>
              </a:lnSpc>
              <a:spcBef>
                <a:spcPct val="0"/>
              </a:spcBef>
            </a:pPr>
            <a:r>
              <a:rPr lang="en-US" sz="3763" spc="82">
                <a:solidFill>
                  <a:srgbClr val="000000"/>
                </a:solidFill>
                <a:latin typeface="Big Shoulders Display"/>
                <a:ea typeface="Big Shoulders Display"/>
                <a:cs typeface="Big Shoulders Display"/>
                <a:sym typeface="Big Shoulders Display"/>
              </a:rPr>
              <a:t>⚙️ Implementation of Code Logic — Code Structure</a:t>
            </a:r>
          </a:p>
          <a:p>
            <a:pPr algn="l">
              <a:lnSpc>
                <a:spcPts val="5269"/>
              </a:lnSpc>
              <a:spcBef>
                <a:spcPct val="0"/>
              </a:spcBef>
            </a:pPr>
            <a:r>
              <a:rPr lang="en-US" sz="3763" spc="82">
                <a:solidFill>
                  <a:srgbClr val="00FFFF"/>
                </a:solidFill>
                <a:latin typeface="Big Shoulders Display"/>
                <a:ea typeface="Big Shoulders Display"/>
                <a:cs typeface="Big Shoulders Display"/>
                <a:sym typeface="Big Shoulders Display"/>
              </a:rPr>
              <a:t>Modular Design:</a:t>
            </a:r>
          </a:p>
          <a:p>
            <a:pPr algn="l">
              <a:lnSpc>
                <a:spcPts val="4801"/>
              </a:lnSpc>
              <a:spcBef>
                <a:spcPct val="0"/>
              </a:spcBef>
            </a:pPr>
            <a:r>
              <a:rPr lang="en-US" sz="3429" spc="75">
                <a:solidFill>
                  <a:srgbClr val="000000"/>
                </a:solidFill>
                <a:latin typeface="Big Shoulders Display"/>
                <a:ea typeface="Big Shoulders Display"/>
                <a:cs typeface="Big Shoulders Display"/>
                <a:sym typeface="Big Shoulders Display"/>
              </a:rPr>
              <a:t>      Separate functions handle specific tasks for clarity and reusability.</a:t>
            </a:r>
          </a:p>
          <a:p>
            <a:pPr algn="l">
              <a:lnSpc>
                <a:spcPts val="5113"/>
              </a:lnSpc>
              <a:spcBef>
                <a:spcPct val="0"/>
              </a:spcBef>
            </a:pPr>
            <a:r>
              <a:rPr lang="en-US" b="true" sz="3652" spc="80">
                <a:solidFill>
                  <a:srgbClr val="FFFFFF"/>
                </a:solidFill>
                <a:latin typeface="Big Shoulders Display Bold"/>
                <a:ea typeface="Big Shoulders Display Bold"/>
                <a:cs typeface="Big Shoulders Display Bold"/>
                <a:sym typeface="Big Shoulders Display Bold"/>
              </a:rPr>
              <a:t>Main Components:</a:t>
            </a:r>
          </a:p>
          <a:p>
            <a:pPr algn="l">
              <a:lnSpc>
                <a:spcPts val="4801"/>
              </a:lnSpc>
              <a:spcBef>
                <a:spcPct val="0"/>
              </a:spcBef>
            </a:pPr>
            <a:r>
              <a:rPr lang="en-US" sz="3429" spc="75">
                <a:solidFill>
                  <a:srgbClr val="000000"/>
                </a:solidFill>
                <a:latin typeface="Big Shoulders Display"/>
                <a:ea typeface="Big Shoulders Display"/>
                <a:cs typeface="Big Shoulders Display"/>
                <a:sym typeface="Big Shoulders Display"/>
              </a:rPr>
              <a:t>       </a:t>
            </a:r>
            <a:r>
              <a:rPr lang="en-US" sz="3429" spc="75">
                <a:solidFill>
                  <a:srgbClr val="000000"/>
                </a:solidFill>
                <a:latin typeface="Big Shoulders Display"/>
                <a:ea typeface="Big Shoulders Display"/>
                <a:cs typeface="Big Shoulders Display"/>
                <a:sym typeface="Big Shoulders Display"/>
              </a:rPr>
              <a:t>main() → Menu, user input, operation selection</a:t>
            </a:r>
          </a:p>
          <a:p>
            <a:pPr algn="l">
              <a:lnSpc>
                <a:spcPts val="4801"/>
              </a:lnSpc>
              <a:spcBef>
                <a:spcPct val="0"/>
              </a:spcBef>
            </a:pPr>
            <a:r>
              <a:rPr lang="en-US" sz="3429" spc="75">
                <a:solidFill>
                  <a:srgbClr val="000000"/>
                </a:solidFill>
                <a:latin typeface="Big Shoulders Display"/>
                <a:ea typeface="Big Shoulders Display"/>
                <a:cs typeface="Big Shoulders Display"/>
                <a:sym typeface="Big Shoulders Display"/>
              </a:rPr>
              <a:t>       readMatrix(), printMatrix() → Input / Output</a:t>
            </a:r>
          </a:p>
          <a:p>
            <a:pPr algn="l">
              <a:lnSpc>
                <a:spcPts val="4801"/>
              </a:lnSpc>
              <a:spcBef>
                <a:spcPct val="0"/>
              </a:spcBef>
            </a:pPr>
            <a:r>
              <a:rPr lang="en-US" sz="3429" spc="75">
                <a:solidFill>
                  <a:srgbClr val="000000"/>
                </a:solidFill>
                <a:latin typeface="Big Shoulders Display"/>
                <a:ea typeface="Big Shoulders Display"/>
                <a:cs typeface="Big Shoulders Display"/>
                <a:sym typeface="Big Shoulders Display"/>
              </a:rPr>
              <a:t>        addMatrices(), subMatrices(), mulMatrices() → Core math logic</a:t>
            </a:r>
          </a:p>
          <a:p>
            <a:pPr algn="l">
              <a:lnSpc>
                <a:spcPts val="4801"/>
              </a:lnSpc>
              <a:spcBef>
                <a:spcPct val="0"/>
              </a:spcBef>
            </a:pPr>
            <a:r>
              <a:rPr lang="en-US" sz="3429" spc="75">
                <a:solidFill>
                  <a:srgbClr val="000000"/>
                </a:solidFill>
                <a:latin typeface="Big Shoulders Display"/>
                <a:ea typeface="Big Shoulders Display"/>
                <a:cs typeface="Big Shoulders Display"/>
                <a:sym typeface="Big Shoulders Display"/>
              </a:rPr>
              <a:t>     transposeMatrix(), sumOfRows(), sumOfColumns() → Extra tools</a:t>
            </a:r>
          </a:p>
          <a:p>
            <a:pPr algn="l">
              <a:lnSpc>
                <a:spcPts val="6516"/>
              </a:lnSpc>
              <a:spcBef>
                <a:spcPct val="0"/>
              </a:spcBef>
            </a:pPr>
            <a:r>
              <a:rPr lang="en-US" sz="4654" spc="102">
                <a:solidFill>
                  <a:srgbClr val="FFFFFF"/>
                </a:solidFill>
                <a:latin typeface="Big Shoulders Display"/>
                <a:ea typeface="Big Shoulders Display"/>
                <a:cs typeface="Big Shoulders Display"/>
                <a:sym typeface="Big Shoulders Display"/>
              </a:rPr>
              <a:t>Flow:</a:t>
            </a:r>
          </a:p>
          <a:p>
            <a:pPr algn="l">
              <a:lnSpc>
                <a:spcPts val="4801"/>
              </a:lnSpc>
              <a:spcBef>
                <a:spcPct val="0"/>
              </a:spcBef>
            </a:pPr>
            <a:r>
              <a:rPr lang="en-US" sz="3429" spc="75">
                <a:solidFill>
                  <a:srgbClr val="000000"/>
                </a:solidFill>
                <a:latin typeface="Big Shoulders Display"/>
                <a:ea typeface="Big Shoulders Display"/>
                <a:cs typeface="Big Shoulders Display"/>
                <a:sym typeface="Big Shoulders Display"/>
              </a:rPr>
              <a:t>         Menu → Read Choice → Validate → Perform Operation → Display Result → Repeat</a:t>
            </a:r>
          </a:p>
          <a:p>
            <a:pPr algn="l">
              <a:lnSpc>
                <a:spcPts val="4801"/>
              </a:lnSpc>
              <a:spcBef>
                <a:spcPct val="0"/>
              </a:spcBef>
            </a:pPr>
            <a:r>
              <a:rPr lang="en-US" sz="3429" spc="75">
                <a:solidFill>
                  <a:srgbClr val="F2F2F2"/>
                </a:solidFill>
                <a:latin typeface="Big Shoulders Display"/>
                <a:ea typeface="Big Shoulders Display"/>
                <a:cs typeface="Big Shoulders Display"/>
                <a:sym typeface="Big Shoulders Display"/>
              </a:rPr>
              <a:t>Data Used:</a:t>
            </a:r>
          </a:p>
          <a:p>
            <a:pPr algn="l">
              <a:lnSpc>
                <a:spcPts val="4801"/>
              </a:lnSpc>
              <a:spcBef>
                <a:spcPct val="0"/>
              </a:spcBef>
            </a:pPr>
            <a:r>
              <a:rPr lang="en-US" sz="3429" spc="75">
                <a:solidFill>
                  <a:srgbClr val="000000"/>
                </a:solidFill>
                <a:latin typeface="Big Shoulders Display"/>
                <a:ea typeface="Big Shoulders Display"/>
                <a:cs typeface="Big Shoulders Display"/>
                <a:sym typeface="Big Shoulders Display"/>
              </a:rPr>
              <a:t> 2D arrays A, B, R (size ≤ MAX × MAX)</a:t>
            </a:r>
          </a:p>
          <a:p>
            <a:pPr algn="l">
              <a:lnSpc>
                <a:spcPts val="5113"/>
              </a:lnSpc>
              <a:spcBef>
                <a:spcPct val="0"/>
              </a:spcBef>
            </a:pPr>
            <a:r>
              <a:rPr lang="en-US" sz="3652" spc="80">
                <a:solidFill>
                  <a:srgbClr val="F2F2F2"/>
                </a:solidFill>
                <a:latin typeface="Big Shoulders Display"/>
                <a:ea typeface="Big Shoulders Display"/>
                <a:cs typeface="Big Shoulders Display"/>
                <a:sym typeface="Big Shoulders Display"/>
              </a:rPr>
              <a:t>Key Feature:</a:t>
            </a:r>
          </a:p>
          <a:p>
            <a:pPr algn="l">
              <a:lnSpc>
                <a:spcPts val="4801"/>
              </a:lnSpc>
              <a:spcBef>
                <a:spcPct val="0"/>
              </a:spcBef>
            </a:pPr>
            <a:r>
              <a:rPr lang="en-US" sz="3429" spc="75">
                <a:solidFill>
                  <a:srgbClr val="000000"/>
                </a:solidFill>
                <a:latin typeface="Big Shoulders Display"/>
                <a:ea typeface="Big Shoulders Display"/>
                <a:cs typeface="Big Shoulders Display"/>
                <a:sym typeface="Big Shoulders Display"/>
              </a:rPr>
              <a:t> Clean modular structure, simple logic, easy maintenance</a:t>
            </a:r>
          </a:p>
        </p:txBody>
      </p:sp>
      <p:sp>
        <p:nvSpPr>
          <p:cNvPr name="Freeform 3" id="3"/>
          <p:cNvSpPr/>
          <p:nvPr/>
        </p:nvSpPr>
        <p:spPr>
          <a:xfrm flipH="false" flipV="false" rot="0">
            <a:off x="14195644" y="0"/>
            <a:ext cx="4092356" cy="4114800"/>
          </a:xfrm>
          <a:custGeom>
            <a:avLst/>
            <a:gdLst/>
            <a:ahLst/>
            <a:cxnLst/>
            <a:rect r="r" b="b" t="t" l="l"/>
            <a:pathLst>
              <a:path h="4114800" w="4092356">
                <a:moveTo>
                  <a:pt x="0" y="0"/>
                </a:moveTo>
                <a:lnTo>
                  <a:pt x="4092356" y="0"/>
                </a:lnTo>
                <a:lnTo>
                  <a:pt x="409235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810761" y="6530829"/>
            <a:ext cx="4310743" cy="4114800"/>
          </a:xfrm>
          <a:custGeom>
            <a:avLst/>
            <a:gdLst/>
            <a:ahLst/>
            <a:cxnLst/>
            <a:rect r="r" b="b" t="t" l="l"/>
            <a:pathLst>
              <a:path h="4114800" w="4310743">
                <a:moveTo>
                  <a:pt x="0" y="0"/>
                </a:moveTo>
                <a:lnTo>
                  <a:pt x="4310743" y="0"/>
                </a:lnTo>
                <a:lnTo>
                  <a:pt x="4310743"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769091" y="7364485"/>
            <a:ext cx="4020652" cy="4114800"/>
          </a:xfrm>
          <a:custGeom>
            <a:avLst/>
            <a:gdLst/>
            <a:ahLst/>
            <a:cxnLst/>
            <a:rect r="r" b="b" t="t" l="l"/>
            <a:pathLst>
              <a:path h="4114800" w="4020652">
                <a:moveTo>
                  <a:pt x="0" y="0"/>
                </a:moveTo>
                <a:lnTo>
                  <a:pt x="4020652" y="0"/>
                </a:lnTo>
                <a:lnTo>
                  <a:pt x="402065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810761" y="-1805730"/>
            <a:ext cx="6217418" cy="4114800"/>
          </a:xfrm>
          <a:custGeom>
            <a:avLst/>
            <a:gdLst/>
            <a:ahLst/>
            <a:cxnLst/>
            <a:rect r="r" b="b" t="t" l="l"/>
            <a:pathLst>
              <a:path h="4114800" w="6217418">
                <a:moveTo>
                  <a:pt x="0" y="0"/>
                </a:moveTo>
                <a:lnTo>
                  <a:pt x="6217418" y="0"/>
                </a:lnTo>
                <a:lnTo>
                  <a:pt x="621741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871406" y="0"/>
            <a:ext cx="14112859" cy="10597474"/>
          </a:xfrm>
          <a:custGeom>
            <a:avLst/>
            <a:gdLst/>
            <a:ahLst/>
            <a:cxnLst/>
            <a:rect r="r" b="b" t="t" l="l"/>
            <a:pathLst>
              <a:path h="10597474" w="14112859">
                <a:moveTo>
                  <a:pt x="0" y="0"/>
                </a:moveTo>
                <a:lnTo>
                  <a:pt x="14112860" y="0"/>
                </a:lnTo>
                <a:lnTo>
                  <a:pt x="14112860" y="10597474"/>
                </a:lnTo>
                <a:lnTo>
                  <a:pt x="0" y="1059747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E3A8A"/>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1489012"/>
            <a:chOff x="0" y="0"/>
            <a:chExt cx="22606000" cy="1985349"/>
          </a:xfrm>
        </p:grpSpPr>
        <p:sp>
          <p:nvSpPr>
            <p:cNvPr name="AutoShape 3" id="3"/>
            <p:cNvSpPr/>
            <p:nvPr/>
          </p:nvSpPr>
          <p:spPr>
            <a:xfrm flipH="true">
              <a:off x="0" y="1972649"/>
              <a:ext cx="22606000" cy="0"/>
            </a:xfrm>
            <a:prstGeom prst="line">
              <a:avLst/>
            </a:prstGeom>
            <a:ln cap="flat" w="25400">
              <a:solidFill>
                <a:srgbClr val="FFFFFF"/>
              </a:solidFill>
              <a:prstDash val="solid"/>
              <a:headEnd type="none" len="sm" w="sm"/>
              <a:tailEnd type="none" len="sm" w="sm"/>
            </a:ln>
          </p:spPr>
        </p:sp>
        <p:sp>
          <p:nvSpPr>
            <p:cNvPr name="TextBox 4" id="4"/>
            <p:cNvSpPr txBox="true"/>
            <p:nvPr/>
          </p:nvSpPr>
          <p:spPr>
            <a:xfrm rot="0">
              <a:off x="0" y="142875"/>
              <a:ext cx="22606000" cy="1275291"/>
            </a:xfrm>
            <a:prstGeom prst="rect">
              <a:avLst/>
            </a:prstGeom>
          </p:spPr>
          <p:txBody>
            <a:bodyPr anchor="t" rtlCol="false" tIns="0" lIns="0" bIns="0" rIns="0">
              <a:spAutoFit/>
            </a:bodyPr>
            <a:lstStyle/>
            <a:p>
              <a:pPr algn="ctr" marL="0" indent="0" lvl="0">
                <a:lnSpc>
                  <a:spcPts val="6999"/>
                </a:lnSpc>
              </a:pPr>
              <a:r>
                <a:rPr lang="en-US" sz="6999">
                  <a:solidFill>
                    <a:srgbClr val="FFFFFF"/>
                  </a:solidFill>
                  <a:latin typeface="Radley"/>
                  <a:ea typeface="Radley"/>
                  <a:cs typeface="Radley"/>
                  <a:sym typeface="Radley"/>
                </a:rPr>
                <a:t>Sample Output of Matrix Operations</a:t>
              </a:r>
            </a:p>
          </p:txBody>
        </p:sp>
      </p:grpSp>
      <p:grpSp>
        <p:nvGrpSpPr>
          <p:cNvPr name="Group 5" id="5"/>
          <p:cNvGrpSpPr/>
          <p:nvPr/>
        </p:nvGrpSpPr>
        <p:grpSpPr>
          <a:xfrm rot="0">
            <a:off x="666750" y="3352800"/>
            <a:ext cx="7893939" cy="6953250"/>
            <a:chOff x="0" y="0"/>
            <a:chExt cx="3296632" cy="2903786"/>
          </a:xfrm>
        </p:grpSpPr>
        <p:sp>
          <p:nvSpPr>
            <p:cNvPr name="Freeform 6" id="6"/>
            <p:cNvSpPr/>
            <p:nvPr/>
          </p:nvSpPr>
          <p:spPr>
            <a:xfrm flipH="false" flipV="false" rot="0">
              <a:off x="0" y="0"/>
              <a:ext cx="3296632" cy="2903786"/>
            </a:xfrm>
            <a:custGeom>
              <a:avLst/>
              <a:gdLst/>
              <a:ahLst/>
              <a:cxnLst/>
              <a:rect r="r" b="b" t="t" l="l"/>
              <a:pathLst>
                <a:path h="2903786" w="3296632">
                  <a:moveTo>
                    <a:pt x="0" y="0"/>
                  </a:moveTo>
                  <a:lnTo>
                    <a:pt x="3296632" y="0"/>
                  </a:lnTo>
                  <a:lnTo>
                    <a:pt x="3296632" y="2903786"/>
                  </a:lnTo>
                  <a:lnTo>
                    <a:pt x="0" y="2903786"/>
                  </a:lnTo>
                  <a:close/>
                </a:path>
              </a:pathLst>
            </a:custGeom>
            <a:blipFill>
              <a:blip r:embed="rId2"/>
              <a:stretch>
                <a:fillRect l="0" t="-180" r="0" b="-180"/>
              </a:stretch>
            </a:blipFill>
          </p:spPr>
        </p:sp>
      </p:grpSp>
      <p:grpSp>
        <p:nvGrpSpPr>
          <p:cNvPr name="Group 7" id="7"/>
          <p:cNvGrpSpPr/>
          <p:nvPr/>
        </p:nvGrpSpPr>
        <p:grpSpPr>
          <a:xfrm rot="0">
            <a:off x="10236768" y="3352800"/>
            <a:ext cx="5691829" cy="6953250"/>
            <a:chOff x="0" y="0"/>
            <a:chExt cx="2376996" cy="2903786"/>
          </a:xfrm>
        </p:grpSpPr>
        <p:sp>
          <p:nvSpPr>
            <p:cNvPr name="Freeform 8" id="8"/>
            <p:cNvSpPr/>
            <p:nvPr/>
          </p:nvSpPr>
          <p:spPr>
            <a:xfrm flipH="false" flipV="false" rot="0">
              <a:off x="0" y="0"/>
              <a:ext cx="2376996" cy="2903786"/>
            </a:xfrm>
            <a:custGeom>
              <a:avLst/>
              <a:gdLst/>
              <a:ahLst/>
              <a:cxnLst/>
              <a:rect r="r" b="b" t="t" l="l"/>
              <a:pathLst>
                <a:path h="2903786" w="2376996">
                  <a:moveTo>
                    <a:pt x="0" y="0"/>
                  </a:moveTo>
                  <a:lnTo>
                    <a:pt x="2376996" y="0"/>
                  </a:lnTo>
                  <a:lnTo>
                    <a:pt x="2376996" y="2903786"/>
                  </a:lnTo>
                  <a:lnTo>
                    <a:pt x="0" y="2903786"/>
                  </a:lnTo>
                  <a:close/>
                </a:path>
              </a:pathLst>
            </a:custGeom>
            <a:blipFill>
              <a:blip r:embed="rId3"/>
              <a:stretch>
                <a:fillRect l="0" t="-451" r="0" b="-451"/>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E3A8A"/>
        </a:solidFill>
      </p:bgPr>
    </p:bg>
    <p:spTree>
      <p:nvGrpSpPr>
        <p:cNvPr id="1" name=""/>
        <p:cNvGrpSpPr/>
        <p:nvPr/>
      </p:nvGrpSpPr>
      <p:grpSpPr>
        <a:xfrm>
          <a:off x="0" y="0"/>
          <a:ext cx="0" cy="0"/>
          <a:chOff x="0" y="0"/>
          <a:chExt cx="0" cy="0"/>
        </a:xfrm>
      </p:grpSpPr>
      <p:grpSp>
        <p:nvGrpSpPr>
          <p:cNvPr name="Group 2" id="2"/>
          <p:cNvGrpSpPr/>
          <p:nvPr/>
        </p:nvGrpSpPr>
        <p:grpSpPr>
          <a:xfrm rot="0">
            <a:off x="5601240" y="1716060"/>
            <a:ext cx="8571960" cy="6131330"/>
            <a:chOff x="0" y="0"/>
            <a:chExt cx="11429280" cy="8175107"/>
          </a:xfrm>
        </p:grpSpPr>
        <p:sp>
          <p:nvSpPr>
            <p:cNvPr name="TextBox 3" id="3"/>
            <p:cNvSpPr txBox="true"/>
            <p:nvPr/>
          </p:nvSpPr>
          <p:spPr>
            <a:xfrm rot="0">
              <a:off x="31209" y="57150"/>
              <a:ext cx="11398071" cy="1621033"/>
            </a:xfrm>
            <a:prstGeom prst="rect">
              <a:avLst/>
            </a:prstGeom>
          </p:spPr>
          <p:txBody>
            <a:bodyPr anchor="t" rtlCol="false" tIns="0" lIns="0" bIns="0" rIns="0">
              <a:spAutoFit/>
            </a:bodyPr>
            <a:lstStyle/>
            <a:p>
              <a:pPr algn="l" marL="0" indent="0" lvl="0">
                <a:lnSpc>
                  <a:spcPts val="9294"/>
                </a:lnSpc>
                <a:spcBef>
                  <a:spcPct val="0"/>
                </a:spcBef>
              </a:pPr>
              <a:r>
                <a:rPr lang="en-US" sz="8298" i="true">
                  <a:solidFill>
                    <a:srgbClr val="FFFFFF"/>
                  </a:solidFill>
                  <a:latin typeface="Radley Italics"/>
                  <a:ea typeface="Radley Italics"/>
                  <a:cs typeface="Radley Italics"/>
                  <a:sym typeface="Radley Italics"/>
                </a:rPr>
                <a:t>Results </a:t>
              </a:r>
            </a:p>
          </p:txBody>
        </p:sp>
        <p:sp>
          <p:nvSpPr>
            <p:cNvPr name="TextBox 4" id="4"/>
            <p:cNvSpPr txBox="true"/>
            <p:nvPr/>
          </p:nvSpPr>
          <p:spPr>
            <a:xfrm rot="0">
              <a:off x="31209" y="2830424"/>
              <a:ext cx="11398071" cy="1656099"/>
            </a:xfrm>
            <a:prstGeom prst="rect">
              <a:avLst/>
            </a:prstGeom>
          </p:spPr>
          <p:txBody>
            <a:bodyPr anchor="t" rtlCol="false" tIns="0" lIns="0" bIns="0" rIns="0">
              <a:spAutoFit/>
            </a:bodyPr>
            <a:lstStyle/>
            <a:p>
              <a:pPr algn="l" marL="0" indent="0" lvl="0">
                <a:lnSpc>
                  <a:spcPts val="4978"/>
                </a:lnSpc>
                <a:spcBef>
                  <a:spcPct val="0"/>
                </a:spcBef>
              </a:pPr>
              <a:r>
                <a:rPr lang="en-US" sz="4149" u="none">
                  <a:solidFill>
                    <a:srgbClr val="BFDBFE"/>
                  </a:solidFill>
                  <a:latin typeface="Radley"/>
                  <a:ea typeface="Radley"/>
                  <a:cs typeface="Radley"/>
                  <a:sym typeface="Radley"/>
                </a:rPr>
                <a:t>Evaluating the Effectiveness of the Matrix Operations Tool</a:t>
              </a:r>
            </a:p>
          </p:txBody>
        </p:sp>
        <p:sp>
          <p:nvSpPr>
            <p:cNvPr name="AutoShape 5" id="5"/>
            <p:cNvSpPr/>
            <p:nvPr/>
          </p:nvSpPr>
          <p:spPr>
            <a:xfrm>
              <a:off x="0" y="2254303"/>
              <a:ext cx="11398071" cy="0"/>
            </a:xfrm>
            <a:prstGeom prst="line">
              <a:avLst/>
            </a:prstGeom>
            <a:ln cap="flat" w="30111">
              <a:solidFill>
                <a:srgbClr val="FFFFFF"/>
              </a:solidFill>
              <a:prstDash val="solid"/>
              <a:headEnd type="none" len="sm" w="sm"/>
              <a:tailEnd type="none" len="sm" w="sm"/>
            </a:ln>
          </p:spPr>
        </p:sp>
        <p:sp>
          <p:nvSpPr>
            <p:cNvPr name="TextBox 6" id="6"/>
            <p:cNvSpPr txBox="true"/>
            <p:nvPr/>
          </p:nvSpPr>
          <p:spPr>
            <a:xfrm rot="0">
              <a:off x="31209" y="5227312"/>
              <a:ext cx="11366861" cy="2947796"/>
            </a:xfrm>
            <a:prstGeom prst="rect">
              <a:avLst/>
            </a:prstGeom>
          </p:spPr>
          <p:txBody>
            <a:bodyPr anchor="t" rtlCol="false" tIns="0" lIns="0" bIns="0" rIns="0">
              <a:spAutoFit/>
            </a:bodyPr>
            <a:lstStyle/>
            <a:p>
              <a:pPr algn="l" marL="0" indent="0" lvl="0">
                <a:lnSpc>
                  <a:spcPts val="2845"/>
                </a:lnSpc>
              </a:pPr>
              <a:r>
                <a:rPr lang="en-US" sz="2370">
                  <a:solidFill>
                    <a:srgbClr val="E0E7FF"/>
                  </a:solidFill>
                  <a:latin typeface="Carlito"/>
                  <a:ea typeface="Carlito"/>
                  <a:cs typeface="Carlito"/>
                  <a:sym typeface="Carlito"/>
                </a:rPr>
                <a:t>The Matrix Operations Tool has demonstrated </a:t>
              </a:r>
              <a:r>
                <a:rPr lang="en-US" b="true" sz="2370">
                  <a:solidFill>
                    <a:srgbClr val="E0E7FF"/>
                  </a:solidFill>
                  <a:latin typeface="Carlito Bold"/>
                  <a:ea typeface="Carlito Bold"/>
                  <a:cs typeface="Carlito Bold"/>
                  <a:sym typeface="Carlito Bold"/>
                </a:rPr>
                <a:t>accurate results</a:t>
              </a:r>
              <a:r>
                <a:rPr lang="en-US" sz="2370">
                  <a:solidFill>
                    <a:srgbClr val="E0E7FF"/>
                  </a:solidFill>
                  <a:latin typeface="Carlito"/>
                  <a:ea typeface="Carlito"/>
                  <a:cs typeface="Carlito"/>
                  <a:sym typeface="Carlito"/>
                </a:rPr>
                <a:t> and efficient processing capabilities. Users can perform basic matrix computations interactively, showcasing the importance of programming logic and user-friendly design. This tool not only enhances computational speed but also reduces human error, making it a valuable asset for academic purposes.</a:t>
              </a:r>
            </a:p>
          </p:txBody>
        </p:sp>
      </p:grpSp>
      <p:sp>
        <p:nvSpPr>
          <p:cNvPr name="Freeform 7" id="7"/>
          <p:cNvSpPr/>
          <p:nvPr/>
        </p:nvSpPr>
        <p:spPr>
          <a:xfrm flipH="false" flipV="false" rot="0">
            <a:off x="14173200" y="627915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354609" y="-1632707"/>
            <a:ext cx="4310743" cy="4114800"/>
          </a:xfrm>
          <a:custGeom>
            <a:avLst/>
            <a:gdLst/>
            <a:ahLst/>
            <a:cxnLst/>
            <a:rect r="r" b="b" t="t" l="l"/>
            <a:pathLst>
              <a:path h="4114800" w="4310743">
                <a:moveTo>
                  <a:pt x="0" y="0"/>
                </a:moveTo>
                <a:lnTo>
                  <a:pt x="4310743" y="0"/>
                </a:lnTo>
                <a:lnTo>
                  <a:pt x="4310743"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4152239" y="837050"/>
            <a:ext cx="11469963" cy="8612899"/>
          </a:xfrm>
          <a:custGeom>
            <a:avLst/>
            <a:gdLst/>
            <a:ahLst/>
            <a:cxnLst/>
            <a:rect r="r" b="b" t="t" l="l"/>
            <a:pathLst>
              <a:path h="8612899" w="11469963">
                <a:moveTo>
                  <a:pt x="0" y="0"/>
                </a:moveTo>
                <a:lnTo>
                  <a:pt x="11469963" y="0"/>
                </a:lnTo>
                <a:lnTo>
                  <a:pt x="11469963" y="8612900"/>
                </a:lnTo>
                <a:lnTo>
                  <a:pt x="0" y="86129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6095328" y="-1632707"/>
            <a:ext cx="4191000" cy="4114800"/>
          </a:xfrm>
          <a:custGeom>
            <a:avLst/>
            <a:gdLst/>
            <a:ahLst/>
            <a:cxnLst/>
            <a:rect r="r" b="b" t="t" l="l"/>
            <a:pathLst>
              <a:path h="4114800" w="4191000">
                <a:moveTo>
                  <a:pt x="0" y="0"/>
                </a:moveTo>
                <a:lnTo>
                  <a:pt x="4191000" y="0"/>
                </a:lnTo>
                <a:lnTo>
                  <a:pt x="41910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4726450">
            <a:off x="66795" y="7513171"/>
            <a:ext cx="3030960" cy="3030960"/>
          </a:xfrm>
          <a:custGeom>
            <a:avLst/>
            <a:gdLst/>
            <a:ahLst/>
            <a:cxnLst/>
            <a:rect r="r" b="b" t="t" l="l"/>
            <a:pathLst>
              <a:path h="3030960" w="3030960">
                <a:moveTo>
                  <a:pt x="0" y="0"/>
                </a:moveTo>
                <a:lnTo>
                  <a:pt x="3030960" y="0"/>
                </a:lnTo>
                <a:lnTo>
                  <a:pt x="3030960" y="3030960"/>
                </a:lnTo>
                <a:lnTo>
                  <a:pt x="0" y="303096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E3A8A"/>
        </a:solidFill>
      </p:bgPr>
    </p:bg>
    <p:spTree>
      <p:nvGrpSpPr>
        <p:cNvPr id="1" name=""/>
        <p:cNvGrpSpPr/>
        <p:nvPr/>
      </p:nvGrpSpPr>
      <p:grpSpPr>
        <a:xfrm>
          <a:off x="0" y="0"/>
          <a:ext cx="0" cy="0"/>
          <a:chOff x="0" y="0"/>
          <a:chExt cx="0" cy="0"/>
        </a:xfrm>
      </p:grpSpPr>
      <p:grpSp>
        <p:nvGrpSpPr>
          <p:cNvPr name="Group 2" id="2"/>
          <p:cNvGrpSpPr/>
          <p:nvPr/>
        </p:nvGrpSpPr>
        <p:grpSpPr>
          <a:xfrm rot="0">
            <a:off x="10304040" y="0"/>
            <a:ext cx="7858125" cy="10287000"/>
            <a:chOff x="0" y="0"/>
            <a:chExt cx="1217429" cy="1593725"/>
          </a:xfrm>
        </p:grpSpPr>
        <p:sp>
          <p:nvSpPr>
            <p:cNvPr name="Freeform 3" id="3"/>
            <p:cNvSpPr/>
            <p:nvPr/>
          </p:nvSpPr>
          <p:spPr>
            <a:xfrm flipH="false" flipV="false" rot="0">
              <a:off x="0" y="0"/>
              <a:ext cx="1217429" cy="1593725"/>
            </a:xfrm>
            <a:custGeom>
              <a:avLst/>
              <a:gdLst/>
              <a:ahLst/>
              <a:cxnLst/>
              <a:rect r="r" b="b" t="t" l="l"/>
              <a:pathLst>
                <a:path h="1593725" w="1217429">
                  <a:moveTo>
                    <a:pt x="0" y="0"/>
                  </a:moveTo>
                  <a:lnTo>
                    <a:pt x="1217429" y="0"/>
                  </a:lnTo>
                  <a:lnTo>
                    <a:pt x="1217429" y="1593725"/>
                  </a:lnTo>
                  <a:lnTo>
                    <a:pt x="0" y="1593725"/>
                  </a:lnTo>
                  <a:close/>
                </a:path>
              </a:pathLst>
            </a:custGeom>
            <a:blipFill>
              <a:blip r:embed="rId2"/>
              <a:stretch>
                <a:fillRect l="0" t="-255" r="0" b="-255"/>
              </a:stretch>
            </a:blipFill>
          </p:spPr>
        </p:sp>
      </p:grpSp>
      <p:grpSp>
        <p:nvGrpSpPr>
          <p:cNvPr name="Group 4" id="4"/>
          <p:cNvGrpSpPr/>
          <p:nvPr/>
        </p:nvGrpSpPr>
        <p:grpSpPr>
          <a:xfrm rot="0">
            <a:off x="666750" y="666755"/>
            <a:ext cx="7230865" cy="7372350"/>
            <a:chOff x="0" y="0"/>
            <a:chExt cx="9641153" cy="9829800"/>
          </a:xfrm>
        </p:grpSpPr>
        <p:sp>
          <p:nvSpPr>
            <p:cNvPr name="TextBox 5" id="5"/>
            <p:cNvSpPr txBox="true"/>
            <p:nvPr/>
          </p:nvSpPr>
          <p:spPr>
            <a:xfrm rot="0">
              <a:off x="26326" y="57150"/>
              <a:ext cx="9614826" cy="4000079"/>
            </a:xfrm>
            <a:prstGeom prst="rect">
              <a:avLst/>
            </a:prstGeom>
          </p:spPr>
          <p:txBody>
            <a:bodyPr anchor="t" rtlCol="false" tIns="0" lIns="0" bIns="0" rIns="0">
              <a:spAutoFit/>
            </a:bodyPr>
            <a:lstStyle/>
            <a:p>
              <a:pPr algn="l" marL="0" indent="0" lvl="0">
                <a:lnSpc>
                  <a:spcPts val="7840"/>
                </a:lnSpc>
                <a:spcBef>
                  <a:spcPct val="0"/>
                </a:spcBef>
              </a:pPr>
              <a:r>
                <a:rPr lang="en-US" sz="7000" i="true">
                  <a:solidFill>
                    <a:srgbClr val="FFFFFF"/>
                  </a:solidFill>
                  <a:latin typeface="Radley Italics"/>
                  <a:ea typeface="Radley Italics"/>
                  <a:cs typeface="Radley Italics"/>
                  <a:sym typeface="Radley Italics"/>
                </a:rPr>
                <a:t>Conclusion &amp; Future Enhancements</a:t>
              </a:r>
            </a:p>
          </p:txBody>
        </p:sp>
        <p:sp>
          <p:nvSpPr>
            <p:cNvPr name="TextBox 6" id="6"/>
            <p:cNvSpPr txBox="true"/>
            <p:nvPr/>
          </p:nvSpPr>
          <p:spPr>
            <a:xfrm rot="0">
              <a:off x="26326" y="5029200"/>
              <a:ext cx="9614826" cy="2095500"/>
            </a:xfrm>
            <a:prstGeom prst="rect">
              <a:avLst/>
            </a:prstGeom>
          </p:spPr>
          <p:txBody>
            <a:bodyPr anchor="t" rtlCol="false" tIns="0" lIns="0" bIns="0" rIns="0">
              <a:spAutoFit/>
            </a:bodyPr>
            <a:lstStyle/>
            <a:p>
              <a:pPr algn="l" marL="0" indent="0" lvl="0">
                <a:lnSpc>
                  <a:spcPts val="4199"/>
                </a:lnSpc>
                <a:spcBef>
                  <a:spcPct val="0"/>
                </a:spcBef>
              </a:pPr>
              <a:r>
                <a:rPr lang="en-US" sz="3499" u="none">
                  <a:solidFill>
                    <a:srgbClr val="BFDBFE"/>
                  </a:solidFill>
                  <a:latin typeface="Radley"/>
                  <a:ea typeface="Radley"/>
                  <a:cs typeface="Radley"/>
                  <a:sym typeface="Radley"/>
                </a:rPr>
                <a:t>Reflecting on achievements and potential advancements in matrix operations</a:t>
              </a:r>
            </a:p>
          </p:txBody>
        </p:sp>
        <p:sp>
          <p:nvSpPr>
            <p:cNvPr name="AutoShape 7" id="7"/>
            <p:cNvSpPr/>
            <p:nvPr/>
          </p:nvSpPr>
          <p:spPr>
            <a:xfrm>
              <a:off x="0" y="4543214"/>
              <a:ext cx="9614826" cy="0"/>
            </a:xfrm>
            <a:prstGeom prst="line">
              <a:avLst/>
            </a:prstGeom>
            <a:ln cap="flat" w="25400">
              <a:solidFill>
                <a:srgbClr val="FFFFFF"/>
              </a:solidFill>
              <a:prstDash val="solid"/>
              <a:headEnd type="none" len="sm" w="sm"/>
              <a:tailEnd type="none" len="sm" w="sm"/>
            </a:ln>
          </p:spPr>
        </p:sp>
        <p:sp>
          <p:nvSpPr>
            <p:cNvPr name="TextBox 8" id="8"/>
            <p:cNvSpPr txBox="true"/>
            <p:nvPr/>
          </p:nvSpPr>
          <p:spPr>
            <a:xfrm rot="0">
              <a:off x="26326" y="7759700"/>
              <a:ext cx="9588500" cy="2070100"/>
            </a:xfrm>
            <a:prstGeom prst="rect">
              <a:avLst/>
            </a:prstGeom>
          </p:spPr>
          <p:txBody>
            <a:bodyPr anchor="t" rtlCol="false" tIns="0" lIns="0" bIns="0" rIns="0">
              <a:spAutoFit/>
            </a:bodyPr>
            <a:lstStyle/>
            <a:p>
              <a:pPr algn="l" marL="0" indent="0" lvl="0">
                <a:lnSpc>
                  <a:spcPts val="2400"/>
                </a:lnSpc>
              </a:pPr>
              <a:r>
                <a:rPr lang="en-US" sz="2000">
                  <a:solidFill>
                    <a:srgbClr val="E0E7FF"/>
                  </a:solidFill>
                  <a:latin typeface="Carlito"/>
                  <a:ea typeface="Carlito"/>
                  <a:cs typeface="Carlito"/>
                  <a:sym typeface="Carlito"/>
                </a:rPr>
                <a:t>This project has successfully achieved its goal of </a:t>
              </a:r>
              <a:r>
                <a:rPr lang="en-US" b="true" sz="2000">
                  <a:solidFill>
                    <a:srgbClr val="E0E7FF"/>
                  </a:solidFill>
                  <a:latin typeface="Carlito Bold"/>
                  <a:ea typeface="Carlito Bold"/>
                  <a:cs typeface="Carlito Bold"/>
                  <a:sym typeface="Carlito Bold"/>
                </a:rPr>
                <a:t>automating matrix calculations</a:t>
              </a:r>
              <a:r>
                <a:rPr lang="en-US" sz="2000">
                  <a:solidFill>
                    <a:srgbClr val="E0E7FF"/>
                  </a:solidFill>
                  <a:latin typeface="Carlito"/>
                  <a:ea typeface="Carlito"/>
                  <a:cs typeface="Carlito"/>
                  <a:sym typeface="Carlito"/>
                </a:rPr>
                <a:t>, enhancing both speed and accuracy. Looking ahead, future enhancements may include the addition of determinant and inverse calculations, as well as the ability to save results to files, further broadening the tool's functionality.</a:t>
              </a:r>
            </a:p>
          </p:txBody>
        </p:sp>
      </p:grpSp>
      <p:grpSp>
        <p:nvGrpSpPr>
          <p:cNvPr name="Group 9" id="9"/>
          <p:cNvGrpSpPr/>
          <p:nvPr/>
        </p:nvGrpSpPr>
        <p:grpSpPr>
          <a:xfrm rot="0">
            <a:off x="666750" y="9184102"/>
            <a:ext cx="2171730" cy="2205796"/>
            <a:chOff x="0" y="0"/>
            <a:chExt cx="812800" cy="825500"/>
          </a:xfrm>
        </p:grpSpPr>
        <p:sp>
          <p:nvSpPr>
            <p:cNvPr name="Freeform 10" id="10"/>
            <p:cNvSpPr/>
            <p:nvPr/>
          </p:nvSpPr>
          <p:spPr>
            <a:xfrm flipH="false" flipV="false" rot="0">
              <a:off x="1270" y="0"/>
              <a:ext cx="810260" cy="822960"/>
            </a:xfrm>
            <a:custGeom>
              <a:avLst/>
              <a:gdLst/>
              <a:ahLst/>
              <a:cxnLst/>
              <a:rect r="r" b="b" t="t" l="l"/>
              <a:pathLst>
                <a:path h="822960" w="8102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FFFFFF"/>
            </a:solidFill>
          </p:spPr>
        </p:sp>
        <p:sp>
          <p:nvSpPr>
            <p:cNvPr name="TextBox 11" id="11"/>
            <p:cNvSpPr txBox="true"/>
            <p:nvPr/>
          </p:nvSpPr>
          <p:spPr>
            <a:xfrm>
              <a:off x="141746" y="112576"/>
              <a:ext cx="529308" cy="559367"/>
            </a:xfrm>
            <a:prstGeom prst="rect">
              <a:avLst/>
            </a:prstGeom>
          </p:spPr>
          <p:txBody>
            <a:bodyPr anchor="ctr" rtlCol="false" tIns="50800" lIns="50800" bIns="50800" rIns="50800"/>
            <a:lstStyle/>
            <a:p>
              <a:pPr algn="ctr" marL="0" indent="0" lvl="0">
                <a:lnSpc>
                  <a:spcPts val="3359"/>
                </a:lnSpc>
                <a:spcBef>
                  <a:spcPct val="0"/>
                </a:spcBef>
              </a:pPr>
            </a:p>
          </p:txBody>
        </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1E3A8A"/>
        </a:solidFill>
      </p:bgPr>
    </p:bg>
    <p:spTree>
      <p:nvGrpSpPr>
        <p:cNvPr id="1" name=""/>
        <p:cNvGrpSpPr/>
        <p:nvPr/>
      </p:nvGrpSpPr>
      <p:grpSpPr>
        <a:xfrm>
          <a:off x="0" y="0"/>
          <a:ext cx="0" cy="0"/>
          <a:chOff x="0" y="0"/>
          <a:chExt cx="0" cy="0"/>
        </a:xfrm>
      </p:grpSpPr>
      <p:grpSp>
        <p:nvGrpSpPr>
          <p:cNvPr name="Group 2" id="2"/>
          <p:cNvGrpSpPr/>
          <p:nvPr/>
        </p:nvGrpSpPr>
        <p:grpSpPr>
          <a:xfrm rot="0">
            <a:off x="871232" y="1028700"/>
            <a:ext cx="11171489" cy="8945830"/>
            <a:chOff x="0" y="0"/>
            <a:chExt cx="14895319" cy="11927773"/>
          </a:xfrm>
        </p:grpSpPr>
        <p:sp>
          <p:nvSpPr>
            <p:cNvPr name="TextBox 3" id="3"/>
            <p:cNvSpPr txBox="true"/>
            <p:nvPr/>
          </p:nvSpPr>
          <p:spPr>
            <a:xfrm rot="0">
              <a:off x="40674" y="66675"/>
              <a:ext cx="14854645" cy="3327574"/>
            </a:xfrm>
            <a:prstGeom prst="rect">
              <a:avLst/>
            </a:prstGeom>
          </p:spPr>
          <p:txBody>
            <a:bodyPr anchor="t" rtlCol="false" tIns="0" lIns="0" bIns="0" rIns="0">
              <a:spAutoFit/>
            </a:bodyPr>
            <a:lstStyle/>
            <a:p>
              <a:pPr algn="l" marL="0" indent="0" lvl="0">
                <a:lnSpc>
                  <a:spcPts val="9726"/>
                </a:lnSpc>
                <a:spcBef>
                  <a:spcPct val="0"/>
                </a:spcBef>
              </a:pPr>
              <a:r>
                <a:rPr lang="en-US" sz="8684" i="true">
                  <a:solidFill>
                    <a:srgbClr val="FFFFFF"/>
                  </a:solidFill>
                  <a:latin typeface="Radley Italics"/>
                  <a:ea typeface="Radley Italics"/>
                  <a:cs typeface="Radley Italics"/>
                  <a:sym typeface="Radley Italics"/>
                </a:rPr>
                <a:t>References &amp; Acknowledgements</a:t>
              </a:r>
            </a:p>
          </p:txBody>
        </p:sp>
        <p:sp>
          <p:nvSpPr>
            <p:cNvPr name="TextBox 4" id="4"/>
            <p:cNvSpPr txBox="true"/>
            <p:nvPr/>
          </p:nvSpPr>
          <p:spPr>
            <a:xfrm rot="0">
              <a:off x="40674" y="6255126"/>
              <a:ext cx="14854645" cy="1828800"/>
            </a:xfrm>
            <a:prstGeom prst="rect">
              <a:avLst/>
            </a:prstGeom>
          </p:spPr>
          <p:txBody>
            <a:bodyPr anchor="t" rtlCol="false" tIns="0" lIns="0" bIns="0" rIns="0">
              <a:spAutoFit/>
            </a:bodyPr>
            <a:lstStyle/>
            <a:p>
              <a:pPr algn="l" marL="0" indent="0" lvl="0">
                <a:lnSpc>
                  <a:spcPts val="5402"/>
                </a:lnSpc>
                <a:spcBef>
                  <a:spcPct val="0"/>
                </a:spcBef>
              </a:pPr>
              <a:r>
                <a:rPr lang="en-US" sz="4502" u="none">
                  <a:solidFill>
                    <a:srgbClr val="BFDBFE"/>
                  </a:solidFill>
                  <a:latin typeface="Radley"/>
                  <a:ea typeface="Radley"/>
                  <a:cs typeface="Radley"/>
                  <a:sym typeface="Radley"/>
                </a:rPr>
                <a:t>Resources that supported the development of the matrix operations tool</a:t>
              </a:r>
            </a:p>
          </p:txBody>
        </p:sp>
        <p:sp>
          <p:nvSpPr>
            <p:cNvPr name="AutoShape 5" id="5"/>
            <p:cNvSpPr/>
            <p:nvPr/>
          </p:nvSpPr>
          <p:spPr>
            <a:xfrm>
              <a:off x="0" y="5643837"/>
              <a:ext cx="14854645" cy="0"/>
            </a:xfrm>
            <a:prstGeom prst="line">
              <a:avLst/>
            </a:prstGeom>
            <a:ln cap="flat" w="31949">
              <a:solidFill>
                <a:srgbClr val="FFFFFF"/>
              </a:solidFill>
              <a:prstDash val="solid"/>
              <a:headEnd type="none" len="sm" w="sm"/>
              <a:tailEnd type="none" len="sm" w="sm"/>
            </a:ln>
          </p:spPr>
        </p:sp>
        <p:sp>
          <p:nvSpPr>
            <p:cNvPr name="TextBox 6" id="6"/>
            <p:cNvSpPr txBox="true"/>
            <p:nvPr/>
          </p:nvSpPr>
          <p:spPr>
            <a:xfrm rot="0">
              <a:off x="40674" y="9787823"/>
              <a:ext cx="14813972" cy="2139950"/>
            </a:xfrm>
            <a:prstGeom prst="rect">
              <a:avLst/>
            </a:prstGeom>
          </p:spPr>
          <p:txBody>
            <a:bodyPr anchor="t" rtlCol="false" tIns="0" lIns="0" bIns="0" rIns="0">
              <a:spAutoFit/>
            </a:bodyPr>
            <a:lstStyle/>
            <a:p>
              <a:pPr algn="l" marL="0" indent="0" lvl="0">
                <a:lnSpc>
                  <a:spcPts val="3115"/>
                </a:lnSpc>
              </a:pPr>
              <a:r>
                <a:rPr lang="en-US" b="true" sz="2596">
                  <a:solidFill>
                    <a:srgbClr val="E0E7FF"/>
                  </a:solidFill>
                  <a:latin typeface="Carlito Bold"/>
                  <a:ea typeface="Carlito Bold"/>
                  <a:cs typeface="Carlito Bold"/>
                  <a:sym typeface="Carlito Bold"/>
                </a:rPr>
                <a:t>This project benefited from a variety of resources including textbooks, online tutorials, and guidance from mentors. Special thanks to my teammates for their collaboration and insights, which were invaluable in refining the design and implementation of the matrix operations tool.</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E3A8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795939"/>
            <a:ext cx="16230600" cy="6695122"/>
          </a:xfrm>
          <a:custGeom>
            <a:avLst/>
            <a:gdLst/>
            <a:ahLst/>
            <a:cxnLst/>
            <a:rect r="r" b="b" t="t" l="l"/>
            <a:pathLst>
              <a:path h="6695122" w="16230600">
                <a:moveTo>
                  <a:pt x="0" y="0"/>
                </a:moveTo>
                <a:lnTo>
                  <a:pt x="16230600" y="0"/>
                </a:lnTo>
                <a:lnTo>
                  <a:pt x="16230600" y="6695122"/>
                </a:lnTo>
                <a:lnTo>
                  <a:pt x="0" y="6695122"/>
                </a:lnTo>
                <a:lnTo>
                  <a:pt x="0" y="0"/>
                </a:lnTo>
                <a:close/>
              </a:path>
            </a:pathLst>
          </a:custGeom>
          <a:blipFill>
            <a:blip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Matrix Operations Tool</dc:description>
  <dc:identifier>DAG4Bq6RQNo</dc:identifier>
  <dcterms:modified xsi:type="dcterms:W3CDTF">2011-08-01T06:04:30Z</dcterms:modified>
  <cp:revision>1</cp:revision>
  <dc:title>Presentation - Matrix Operations Tool</dc:title>
</cp:coreProperties>
</file>